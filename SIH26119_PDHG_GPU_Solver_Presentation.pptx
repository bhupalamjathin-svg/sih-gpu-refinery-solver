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F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914400" y="1005840"/>
            <a:ext cx="4389120" cy="384048"/>
          </a:xfrm>
          <a:prstGeom prst="roundRect">
            <a:avLst/>
          </a:prstGeom>
          <a:solidFill>
            <a:srgbClr val="10203C"/>
          </a:solidFill>
          <a:ln w="12700">
            <a:solidFill>
              <a:srgbClr val="00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00E5FF"/>
                </a:solidFill>
                <a:latin typeface="Calibri"/>
              </a:defRPr>
            </a:pPr>
            <a:r>
              <a:t>SMART INDIA HACKATHON 2026  •  PROBLEM SIH26119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645920"/>
            <a:ext cx="10360152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F8FAFC"/>
                </a:solidFill>
                <a:latin typeface="Trebuchet MS"/>
              </a:defRPr>
            </a:pPr>
            <a:r>
              <a:t>PDHG-GPU: Indigenous CUDA Solver</a:t>
            </a:r>
          </a:p>
          <a:p>
            <a:pPr>
              <a:spcBef>
                <a:spcPts val="800"/>
              </a:spcBef>
              <a:defRPr sz="1700">
                <a:solidFill>
                  <a:srgbClr val="38BDF8"/>
                </a:solidFill>
                <a:latin typeface="Calibri"/>
              </a:defRPr>
            </a:pPr>
            <a:r>
              <a:t>High-Throughput GPU-Accelerated Mathematical Programming Suite for Indian Oil Refineries</a:t>
            </a:r>
          </a:p>
          <a:p>
            <a:pPr>
              <a:spcBef>
                <a:spcPts val="600"/>
              </a:spcBef>
              <a:defRPr sz="1200">
                <a:solidFill>
                  <a:srgbClr val="94A3B8"/>
                </a:solidFill>
                <a:latin typeface="Calibri"/>
              </a:defRPr>
            </a:pPr>
            <a:r>
              <a:t>A Ground-Up Mathematical Engine Built for MoPNG &amp; Indian Refineries (IOCL / MRPL / BPCL / HPCL)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" y="3931920"/>
            <a:ext cx="2377440" cy="1005840"/>
          </a:xfrm>
          <a:prstGeom prst="roundRect">
            <a:avLst/>
          </a:prstGeom>
          <a:solidFill>
            <a:srgbClr val="121A2F"/>
          </a:solidFill>
          <a:ln w="12700">
            <a:solidFill>
              <a:srgbClr val="2636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4023360"/>
            <a:ext cx="2194560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defRPr sz="2000" b="1">
                <a:solidFill>
                  <a:srgbClr val="00E5FF"/>
                </a:solidFill>
                <a:latin typeface="Trebuchet MS"/>
              </a:defRPr>
            </a:pPr>
            <a:r>
              <a:t>4,608 Cores</a:t>
            </a:r>
          </a:p>
          <a:p>
            <a:pPr algn="ctr">
              <a:defRPr sz="950">
                <a:solidFill>
                  <a:srgbClr val="94A3B8"/>
                </a:solidFill>
                <a:latin typeface="Calibri"/>
              </a:defRPr>
            </a:pPr>
            <a:r>
              <a:t>NVIDIA Ada Lovelace GPU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566160" y="3931920"/>
            <a:ext cx="2377440" cy="1005840"/>
          </a:xfrm>
          <a:prstGeom prst="roundRect">
            <a:avLst/>
          </a:prstGeom>
          <a:solidFill>
            <a:srgbClr val="121A2F"/>
          </a:solidFill>
          <a:ln w="12700">
            <a:solidFill>
              <a:srgbClr val="2636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0" y="4023360"/>
            <a:ext cx="2194560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defRPr sz="2000" b="1">
                <a:solidFill>
                  <a:srgbClr val="38BDF8"/>
                </a:solidFill>
                <a:latin typeface="Trebuchet MS"/>
              </a:defRPr>
            </a:pPr>
            <a:r>
              <a:t>364M NNZ</a:t>
            </a:r>
          </a:p>
          <a:p>
            <a:pPr algn="ctr">
              <a:defRPr sz="950">
                <a:solidFill>
                  <a:srgbClr val="94A3B8"/>
                </a:solidFill>
                <a:latin typeface="Calibri"/>
              </a:defRPr>
            </a:pPr>
            <a:r>
              <a:t>Max Capacity in 8GB VRAM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3931920"/>
            <a:ext cx="2377440" cy="1005840"/>
          </a:xfrm>
          <a:prstGeom prst="roundRect">
            <a:avLst/>
          </a:prstGeom>
          <a:solidFill>
            <a:srgbClr val="121A2F"/>
          </a:solidFill>
          <a:ln w="12700">
            <a:solidFill>
              <a:srgbClr val="2636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09360" y="4023360"/>
            <a:ext cx="2194560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defRPr sz="2000" b="1">
                <a:solidFill>
                  <a:srgbClr val="10B981"/>
                </a:solidFill>
                <a:latin typeface="Trebuchet MS"/>
              </a:defRPr>
            </a:pPr>
            <a:r>
              <a:t>0% Foreign</a:t>
            </a:r>
          </a:p>
          <a:p>
            <a:pPr algn="ctr">
              <a:defRPr sz="950">
                <a:solidFill>
                  <a:srgbClr val="94A3B8"/>
                </a:solidFill>
                <a:latin typeface="Calibri"/>
              </a:defRPr>
            </a:pPr>
            <a:r>
              <a:t>Built from First Principles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869680" y="3931920"/>
            <a:ext cx="2377440" cy="1005840"/>
          </a:xfrm>
          <a:prstGeom prst="roundRect">
            <a:avLst/>
          </a:prstGeom>
          <a:solidFill>
            <a:srgbClr val="121A2F"/>
          </a:solidFill>
          <a:ln w="12700">
            <a:solidFill>
              <a:srgbClr val="2636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961120" y="4023360"/>
            <a:ext cx="2194560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defRPr sz="2000" b="1">
                <a:solidFill>
                  <a:srgbClr val="F59E0B"/>
                </a:solidFill>
                <a:latin typeface="Trebuchet MS"/>
              </a:defRPr>
            </a:pPr>
            <a:r>
              <a:t>&lt; 10 ppm S</a:t>
            </a:r>
          </a:p>
          <a:p>
            <a:pPr algn="ctr">
              <a:defRPr sz="950">
                <a:solidFill>
                  <a:srgbClr val="94A3B8"/>
                </a:solidFill>
                <a:latin typeface="Calibri"/>
              </a:defRPr>
            </a:pPr>
            <a:r>
              <a:t>BS-VI Clean Fuel Standard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5303520"/>
            <a:ext cx="1036015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 b="1">
                <a:solidFill>
                  <a:srgbClr val="E2E8F0"/>
                </a:solidFill>
                <a:latin typeface="Calibri"/>
              </a:defRPr>
            </a:pPr>
            <a:r>
              <a:t>MISSION: Replace expensive foreign proprietary tools (Gurobi, CPLEX, Aspen PIMS) with a sovereign, high-precision CUDA LP/QP/MILP optimization engine that runs on Indian infrastructure.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F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950" b="1">
                <a:solidFill>
                  <a:srgbClr val="00E5FF"/>
                </a:solidFill>
                <a:latin typeface="Calibri"/>
              </a:defRPr>
            </a:pPr>
            <a:r>
              <a:t>SIH26119 • MINISTRY OF PETROLEUM &amp; NATURAL GAS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58368"/>
            <a:ext cx="1069848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200" b="1">
                <a:solidFill>
                  <a:srgbClr val="F8FAFC"/>
                </a:solidFill>
                <a:latin typeface="Trebuchet MS"/>
              </a:defRPr>
            </a:pPr>
            <a:r>
              <a:t>The Problem &amp; Strategic Need: Breaking Foreign Solver Dependency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446520"/>
            <a:ext cx="1069848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900">
                <a:solidFill>
                  <a:srgbClr val="64748B"/>
                </a:solidFill>
                <a:latin typeface="Calibri"/>
              </a:defRPr>
            </a:pPr>
            <a:r>
              <a:t>PDHG-GPU: Indigenous CUDA LP/QP/MILP Optimization Solver  |  Smart India Hackathon 2026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371600"/>
            <a:ext cx="5120640" cy="4754880"/>
          </a:xfrm>
          <a:prstGeom prst="roundRect">
            <a:avLst/>
          </a:prstGeom>
          <a:solidFill>
            <a:srgbClr val="121A2F"/>
          </a:solidFill>
          <a:ln w="15240">
            <a:solidFill>
              <a:srgbClr val="2636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508760"/>
            <a:ext cx="47548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300" b="1">
                <a:solidFill>
                  <a:srgbClr val="00E5FF"/>
                </a:solidFill>
                <a:latin typeface="Trebuchet MS"/>
              </a:defRPr>
            </a:pPr>
            <a:r>
              <a:t>Legacy Foreign Solver Monopoly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1920240"/>
            <a:ext cx="475488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600"/>
              </a:spcAft>
            </a:pPr>
            <a:r>
              <a:rPr b="1" sz="1150">
                <a:solidFill>
                  <a:srgbClr val="F8FAFC"/>
                </a:solidFill>
                <a:latin typeface="Calibri"/>
              </a:rPr>
              <a:t>Crippling Licensing Outflows: </a:t>
            </a:r>
            <a:r>
              <a:rPr sz="1150">
                <a:solidFill>
                  <a:srgbClr val="94A3B8"/>
                </a:solidFill>
                <a:latin typeface="Calibri"/>
              </a:rPr>
              <a:t>Indian PSUs spend millions of USD annually on foreign licenses (Gurobi, CPLEX, Aspen PIMS, FICO Xpress) charged at $20k–$50k per socket.</a:t>
            </a:r>
          </a:p>
          <a:p>
            <a:pPr>
              <a:spcAft>
                <a:spcPts val="600"/>
              </a:spcAft>
            </a:pPr>
            <a:r>
              <a:rPr b="1" sz="1150">
                <a:solidFill>
                  <a:srgbClr val="F8FAFC"/>
                </a:solidFill>
                <a:latin typeface="Calibri"/>
              </a:rPr>
              <a:t>National Security &amp; Sovereignty Risk: </a:t>
            </a:r>
            <a:r>
              <a:rPr sz="1150">
                <a:solidFill>
                  <a:srgbClr val="94A3B8"/>
                </a:solidFill>
                <a:latin typeface="Calibri"/>
              </a:rPr>
              <a:t>Closed-source foreign binaries control critical national energy dispatch. Subject to sudden export restrictions or sanctions.</a:t>
            </a:r>
          </a:p>
          <a:p>
            <a:pPr>
              <a:spcAft>
                <a:spcPts val="600"/>
              </a:spcAft>
            </a:pPr>
            <a:r>
              <a:rPr b="1" sz="1150">
                <a:solidFill>
                  <a:srgbClr val="F8FAFC"/>
                </a:solidFill>
                <a:latin typeface="Calibri"/>
              </a:rPr>
              <a:t>The 'Cholesky Memory Wall': </a:t>
            </a:r>
            <a:r>
              <a:rPr sz="1150">
                <a:solidFill>
                  <a:srgbClr val="94A3B8"/>
                </a:solidFill>
                <a:latin typeface="Calibri"/>
              </a:rPr>
              <a:t>Traditional 2nd-order interior-point solvers require dense matrix factorizations O(N²). They hit out-of-memory crashes on large-scale models.</a:t>
            </a:r>
          </a:p>
          <a:p>
            <a:pPr>
              <a:spcAft>
                <a:spcPts val="600"/>
              </a:spcAft>
            </a:pPr>
            <a:r>
              <a:rPr b="1" sz="1150">
                <a:solidFill>
                  <a:srgbClr val="F8FAFC"/>
                </a:solidFill>
                <a:latin typeface="Calibri"/>
              </a:rPr>
              <a:t>CPU Serialization Bottleneck: </a:t>
            </a:r>
            <a:r>
              <a:rPr sz="1150">
                <a:solidFill>
                  <a:srgbClr val="94A3B8"/>
                </a:solidFill>
                <a:latin typeface="Calibri"/>
              </a:rPr>
              <a:t>Legacy solvers execute sequentially on CPU threads, unable to exploit modern massively parallel GPU architectures with thousands of SIMD cores.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1371600"/>
            <a:ext cx="5212080" cy="4754880"/>
          </a:xfrm>
          <a:prstGeom prst="roundRect">
            <a:avLst/>
          </a:prstGeom>
          <a:solidFill>
            <a:srgbClr val="121A2F"/>
          </a:solidFill>
          <a:ln w="15240">
            <a:solidFill>
              <a:srgbClr val="2636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0" y="1508760"/>
            <a:ext cx="48463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300" b="1">
                <a:solidFill>
                  <a:srgbClr val="00E5FF"/>
                </a:solidFill>
                <a:latin typeface="Trebuchet MS"/>
              </a:defRPr>
            </a:pPr>
            <a:r>
              <a:t>Indigenous Innovation: PDHG-GPU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1920240"/>
            <a:ext cx="48463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600"/>
              </a:spcAft>
            </a:pPr>
            <a:r>
              <a:rPr b="1" sz="1150">
                <a:solidFill>
                  <a:srgbClr val="F8FAFC"/>
                </a:solidFill>
                <a:latin typeface="Calibri"/>
              </a:rPr>
              <a:t>100% Sovereign First-Principles Code: </a:t>
            </a:r>
            <a:r>
              <a:rPr sz="1150">
                <a:solidFill>
                  <a:srgbClr val="10B981"/>
                </a:solidFill>
                <a:latin typeface="Calibri"/>
              </a:rPr>
              <a:t>Strictly zero external solver dependencies. Built from mathematical foundations using Chambolle-Pock Primal-Dual Hybrid Gradient.</a:t>
            </a:r>
          </a:p>
          <a:p>
            <a:pPr>
              <a:spcAft>
                <a:spcPts val="600"/>
              </a:spcAft>
            </a:pPr>
            <a:r>
              <a:rPr b="1" sz="1150">
                <a:solidFill>
                  <a:srgbClr val="F8FAFC"/>
                </a:solidFill>
                <a:latin typeface="Calibri"/>
              </a:rPr>
              <a:t>Massive CUDA Parallelism: </a:t>
            </a:r>
            <a:r>
              <a:rPr sz="1150">
                <a:solidFill>
                  <a:srgbClr val="00E5FF"/>
                </a:solidFill>
                <a:latin typeface="Calibri"/>
              </a:rPr>
              <a:t>Translates LP iterations into sparse matrix-vector products (SpMV). Every iteration executes in parallel across 4,608 CUDA cores.</a:t>
            </a:r>
          </a:p>
          <a:p>
            <a:pPr>
              <a:spcAft>
                <a:spcPts val="600"/>
              </a:spcAft>
            </a:pPr>
            <a:r>
              <a:rPr b="1" sz="1150">
                <a:solidFill>
                  <a:srgbClr val="F8FAFC"/>
                </a:solidFill>
                <a:latin typeface="Calibri"/>
              </a:rPr>
              <a:t>500x Memory Reduction via CSR: </a:t>
            </a:r>
            <a:r>
              <a:rPr sz="1150">
                <a:solidFill>
                  <a:srgbClr val="38BDF8"/>
                </a:solidFill>
                <a:latin typeface="Calibri"/>
              </a:rPr>
              <a:t>Sparse Compressed Row Storage scales strictly with non-zero elements O(NNZ), unlocking 364 million variables on commodity 8GB GPUs.</a:t>
            </a:r>
          </a:p>
          <a:p>
            <a:pPr>
              <a:spcAft>
                <a:spcPts val="600"/>
              </a:spcAft>
            </a:pPr>
            <a:r>
              <a:rPr b="1" sz="1150">
                <a:solidFill>
                  <a:srgbClr val="F8FAFC"/>
                </a:solidFill>
                <a:latin typeface="Calibri"/>
              </a:rPr>
              <a:t>Tailored to Indian Downstream Sector: </a:t>
            </a:r>
            <a:r>
              <a:rPr sz="1150">
                <a:solidFill>
                  <a:srgbClr val="F59E0B"/>
                </a:solidFill>
                <a:latin typeface="Calibri"/>
              </a:rPr>
              <a:t>Pre-parameterized with real-world Indian refinery assays (Bombay High, Arab Light) and BS-VI clean fuel mandates (&lt;10 ppm sulfur, 91+ RON).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F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950" b="1">
                <a:solidFill>
                  <a:srgbClr val="00E5FF"/>
                </a:solidFill>
                <a:latin typeface="Calibri"/>
              </a:defRPr>
            </a:pPr>
            <a:r>
              <a:t>SIH26119 • MINISTRY OF PETROLEUM &amp; NATURAL GAS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58368"/>
            <a:ext cx="1069848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200" b="1">
                <a:solidFill>
                  <a:srgbClr val="F8FAFC"/>
                </a:solidFill>
                <a:latin typeface="Trebuchet MS"/>
              </a:defRPr>
            </a:pPr>
            <a:r>
              <a:t>SIH 26119 Mandate Compliance: 100% Verified Rigor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446520"/>
            <a:ext cx="1069848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900">
                <a:solidFill>
                  <a:srgbClr val="64748B"/>
                </a:solidFill>
                <a:latin typeface="Calibri"/>
              </a:defRPr>
            </a:pPr>
            <a:r>
              <a:t>PDHG-GPU: Indigenous CUDA LP/QP/MILP Optimization Solver  |  Smart India Hackathon 2026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731520" y="1371600"/>
          <a:ext cx="10698480" cy="457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94560"/>
                <a:gridCol w="2926080"/>
                <a:gridCol w="4114800"/>
                <a:gridCol w="1463040"/>
              </a:tblGrid>
              <a:tr h="762000">
                <a:tc>
                  <a:txBody>
                    <a:bodyPr/>
                    <a:lstStyle/>
                    <a:p>
                      <a:pPr algn="l">
                        <a:defRPr sz="1100" b="1">
                          <a:solidFill>
                            <a:srgbClr val="00E5FF"/>
                          </a:solidFill>
                          <a:latin typeface="Trebuchet MS"/>
                        </a:defRPr>
                      </a:pPr>
                      <a:r>
                        <a:t>SIH Criterion</a:t>
                      </a:r>
                    </a:p>
                  </a:txBody>
                  <a:tcPr>
                    <a:solidFill>
                      <a:srgbClr val="10182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 b="1">
                          <a:solidFill>
                            <a:srgbClr val="00E5FF"/>
                          </a:solidFill>
                          <a:latin typeface="Trebuchet MS"/>
                        </a:defRPr>
                      </a:pPr>
                      <a:r>
                        <a:t>Foreign Proprietary (Gurobi/CPLEX)</a:t>
                      </a:r>
                    </a:p>
                  </a:txBody>
                  <a:tcPr>
                    <a:solidFill>
                      <a:srgbClr val="10182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 b="1">
                          <a:solidFill>
                            <a:srgbClr val="00E5FF"/>
                          </a:solidFill>
                          <a:latin typeface="Trebuchet MS"/>
                        </a:defRPr>
                      </a:pPr>
                      <a:r>
                        <a:t>Indigenous PDHG-GPU Engine</a:t>
                      </a:r>
                    </a:p>
                  </a:txBody>
                  <a:tcPr>
                    <a:solidFill>
                      <a:srgbClr val="10182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E5FF"/>
                          </a:solidFill>
                          <a:latin typeface="Trebuchet MS"/>
                        </a:defRPr>
                      </a:pPr>
                      <a:r>
                        <a:t>Verdict</a:t>
                      </a:r>
                    </a:p>
                  </a:txBody>
                  <a:tcPr>
                    <a:solidFill>
                      <a:srgbClr val="10182C"/>
                    </a:solidFill>
                  </a:tcPr>
                </a:tc>
              </a:tr>
              <a:tr h="762000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8FAFC"/>
                          </a:solidFill>
                          <a:latin typeface="Calibri"/>
                        </a:defRPr>
                      </a:pPr>
                      <a:r>
                        <a:t>Mathematical Independence</a:t>
                      </a:r>
                    </a:p>
                  </a:txBody>
                  <a:tcPr>
                    <a:solidFill>
                      <a:srgbClr val="121A2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94A3B8"/>
                          </a:solidFill>
                          <a:latin typeface="Calibri"/>
                        </a:defRPr>
                      </a:pPr>
                      <a:r>
                        <a:t>Proprietary C++ black-boxes ($25k/yr socket fees; closed-source)</a:t>
                      </a:r>
                    </a:p>
                  </a:txBody>
                  <a:tcPr>
                    <a:solidFill>
                      <a:srgbClr val="121A2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94A3B8"/>
                          </a:solidFill>
                          <a:latin typeface="Calibri"/>
                        </a:defRPr>
                      </a:pPr>
                      <a:r>
                        <a:t>100% from first principles: Chambolle-Pock PDHG, Ruiz Equi-scaling, custom KKT duals. Zero open-source solvers.</a:t>
                      </a:r>
                    </a:p>
                  </a:txBody>
                  <a:tcPr>
                    <a:solidFill>
                      <a:srgbClr val="121A2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10B981"/>
                          </a:solidFill>
                          <a:latin typeface="Calibri"/>
                        </a:defRPr>
                      </a:pPr>
                      <a:r>
                        <a:t>100% PASS</a:t>
                      </a:r>
                    </a:p>
                  </a:txBody>
                  <a:tcPr>
                    <a:solidFill>
                      <a:srgbClr val="121A2F"/>
                    </a:solidFill>
                  </a:tcPr>
                </a:tc>
              </a:tr>
              <a:tr h="762000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8FAFC"/>
                          </a:solidFill>
                          <a:latin typeface="Calibri"/>
                        </a:defRPr>
                      </a:pPr>
                      <a:r>
                        <a:t>Optimization Scope</a:t>
                      </a:r>
                    </a:p>
                  </a:txBody>
                  <a:tcPr>
                    <a:solidFill>
                      <a:srgbClr val="0E142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94A3B8"/>
                          </a:solidFill>
                          <a:latin typeface="Calibri"/>
                        </a:defRPr>
                      </a:pPr>
                      <a:r>
                        <a:t>Simplex, Barrier IPM, Branch-and-Cut</a:t>
                      </a:r>
                    </a:p>
                  </a:txBody>
                  <a:tcPr>
                    <a:solidFill>
                      <a:srgbClr val="0E142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94A3B8"/>
                          </a:solidFill>
                          <a:latin typeface="Calibri"/>
                        </a:defRPr>
                      </a:pPr>
                      <a:r>
                        <a:t>Tri-Class Suite: High-Scale LP (PDHG), Convex QP (Proximal PDHG), and MILP (Parallel Branch-and-Bound).</a:t>
                      </a:r>
                    </a:p>
                  </a:txBody>
                  <a:tcPr>
                    <a:solidFill>
                      <a:srgbClr val="0E142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10B981"/>
                          </a:solidFill>
                          <a:latin typeface="Calibri"/>
                        </a:defRPr>
                      </a:pPr>
                      <a:r>
                        <a:t>100% PASS</a:t>
                      </a:r>
                    </a:p>
                  </a:txBody>
                  <a:tcPr>
                    <a:solidFill>
                      <a:srgbClr val="0E1424"/>
                    </a:solidFill>
                  </a:tcPr>
                </a:tc>
              </a:tr>
              <a:tr h="762000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8FAFC"/>
                          </a:solidFill>
                          <a:latin typeface="Calibri"/>
                        </a:defRPr>
                      </a:pPr>
                      <a:r>
                        <a:t>Hardware Acceleration</a:t>
                      </a:r>
                    </a:p>
                  </a:txBody>
                  <a:tcPr>
                    <a:solidFill>
                      <a:srgbClr val="121A2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94A3B8"/>
                          </a:solidFill>
                          <a:latin typeface="Calibri"/>
                        </a:defRPr>
                      </a:pPr>
                      <a:r>
                        <a:t>Primarily CPU-bound; limited GPU Cholesky factorization</a:t>
                      </a:r>
                    </a:p>
                  </a:txBody>
                  <a:tcPr>
                    <a:solidFill>
                      <a:srgbClr val="121A2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94A3B8"/>
                          </a:solidFill>
                          <a:latin typeface="Calibri"/>
                        </a:defRPr>
                      </a:pPr>
                      <a:r>
                        <a:t>100% GPU VRAM-resident SpMV kernels via CuPy/CUDA. Zero CPU-GPU sync latency inside inner solve loop.</a:t>
                      </a:r>
                    </a:p>
                  </a:txBody>
                  <a:tcPr>
                    <a:solidFill>
                      <a:srgbClr val="121A2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10B981"/>
                          </a:solidFill>
                          <a:latin typeface="Calibri"/>
                        </a:defRPr>
                      </a:pPr>
                      <a:r>
                        <a:t>100% PASS</a:t>
                      </a:r>
                    </a:p>
                  </a:txBody>
                  <a:tcPr>
                    <a:solidFill>
                      <a:srgbClr val="121A2F"/>
                    </a:solidFill>
                  </a:tcPr>
                </a:tc>
              </a:tr>
              <a:tr h="762000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8FAFC"/>
                          </a:solidFill>
                          <a:latin typeface="Calibri"/>
                        </a:defRPr>
                      </a:pPr>
                      <a:r>
                        <a:t>Memory Footprint</a:t>
                      </a:r>
                    </a:p>
                  </a:txBody>
                  <a:tcPr>
                    <a:solidFill>
                      <a:srgbClr val="0E142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94A3B8"/>
                          </a:solidFill>
                          <a:latin typeface="Calibri"/>
                        </a:defRPr>
                      </a:pPr>
                      <a:r>
                        <a:t>Dense Cholesky O(N²) blows past RAM on 100k+ variables</a:t>
                      </a:r>
                    </a:p>
                  </a:txBody>
                  <a:tcPr>
                    <a:solidFill>
                      <a:srgbClr val="0E142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94A3B8"/>
                          </a:solidFill>
                          <a:latin typeface="Calibri"/>
                        </a:defRPr>
                      </a:pPr>
                      <a:r>
                        <a:t>Sparse CSR O(NNZ) matrix format: 80 MB vs 40 GB on 100k x 50k problem (500x memory saving). Up to 364M NNZ in 8GB VRAM.</a:t>
                      </a:r>
                    </a:p>
                  </a:txBody>
                  <a:tcPr>
                    <a:solidFill>
                      <a:srgbClr val="0E142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10B981"/>
                          </a:solidFill>
                          <a:latin typeface="Calibri"/>
                        </a:defRPr>
                      </a:pPr>
                      <a:r>
                        <a:t>100% PASS</a:t>
                      </a:r>
                    </a:p>
                  </a:txBody>
                  <a:tcPr>
                    <a:solidFill>
                      <a:srgbClr val="0E1424"/>
                    </a:solidFill>
                  </a:tcPr>
                </a:tc>
              </a:tr>
              <a:tr h="762000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8FAFC"/>
                          </a:solidFill>
                          <a:latin typeface="Calibri"/>
                        </a:defRPr>
                      </a:pPr>
                      <a:r>
                        <a:t>Refining Digital Twin</a:t>
                      </a:r>
                    </a:p>
                  </a:txBody>
                  <a:tcPr>
                    <a:solidFill>
                      <a:srgbClr val="121A2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94A3B8"/>
                          </a:solidFill>
                          <a:latin typeface="Calibri"/>
                        </a:defRPr>
                      </a:pPr>
                      <a:r>
                        <a:t>Generic mathematical format; requires separate formulation</a:t>
                      </a:r>
                    </a:p>
                  </a:txBody>
                  <a:tcPr>
                    <a:solidFill>
                      <a:srgbClr val="121A2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94A3B8"/>
                          </a:solidFill>
                          <a:latin typeface="Calibri"/>
                        </a:defRPr>
                      </a:pPr>
                      <a:r>
                        <a:t>Turnkey IOCL Mathura 8-Crude assay, BS-VI fuel mandates (RON 91+, &lt;10 ppm S), and marginal shadow price debottlenecking.</a:t>
                      </a:r>
                    </a:p>
                  </a:txBody>
                  <a:tcPr>
                    <a:solidFill>
                      <a:srgbClr val="121A2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10B981"/>
                          </a:solidFill>
                          <a:latin typeface="Calibri"/>
                        </a:defRPr>
                      </a:pPr>
                      <a:r>
                        <a:t>100% PASS</a:t>
                      </a:r>
                    </a:p>
                  </a:txBody>
                  <a:tcPr>
                    <a:solidFill>
                      <a:srgbClr val="121A2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F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950" b="1">
                <a:solidFill>
                  <a:srgbClr val="00E5FF"/>
                </a:solidFill>
                <a:latin typeface="Calibri"/>
              </a:defRPr>
            </a:pPr>
            <a:r>
              <a:t>SIH26119 • MINISTRY OF PETROLEUM &amp; NATURAL GAS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58368"/>
            <a:ext cx="1069848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200" b="1">
                <a:solidFill>
                  <a:srgbClr val="F8FAFC"/>
                </a:solidFill>
                <a:latin typeface="Trebuchet MS"/>
              </a:defRPr>
            </a:pPr>
            <a:r>
              <a:t>End-to-End 5-Stage System Architecture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446520"/>
            <a:ext cx="1069848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900">
                <a:solidFill>
                  <a:srgbClr val="64748B"/>
                </a:solidFill>
                <a:latin typeface="Calibri"/>
              </a:defRPr>
            </a:pPr>
            <a:r>
              <a:t>PDHG-GPU: Indigenous CUDA LP/QP/MILP Optimization Solver  |  Smart India Hackathon 2026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371600"/>
            <a:ext cx="2011680" cy="4663440"/>
          </a:xfrm>
          <a:prstGeom prst="roundRect">
            <a:avLst/>
          </a:prstGeom>
          <a:solidFill>
            <a:srgbClr val="121A2F"/>
          </a:solidFill>
          <a:ln w="1524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1508760"/>
            <a:ext cx="173736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100" b="1">
                <a:solidFill>
                  <a:srgbClr val="38BDF8"/>
                </a:solidFill>
                <a:latin typeface="Trebuchet MS"/>
              </a:defRPr>
            </a:pPr>
            <a:r>
              <a:t>STAGE 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73736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200" b="1">
                <a:solidFill>
                  <a:srgbClr val="F8FAFC"/>
                </a:solidFill>
                <a:latin typeface="Calibri"/>
              </a:defRPr>
            </a:pPr>
            <a:r>
              <a:t>Model Ingestion &amp; Parsing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2514600"/>
            <a:ext cx="1737360" cy="3383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/>
          <a:p>
            <a:pPr>
              <a:spcAft>
                <a:spcPts val="800"/>
              </a:spcAft>
            </a:pPr>
            <a:r>
              <a:rPr b="1" sz="1000">
                <a:solidFill>
                  <a:srgbClr val="F8FAFC"/>
                </a:solidFill>
                <a:latin typeface="Calibri"/>
              </a:rPr>
              <a:t>Formats: </a:t>
            </a:r>
            <a:r>
              <a:rPr sz="1000">
                <a:solidFill>
                  <a:srgbClr val="94A3B8"/>
                </a:solidFill>
                <a:latin typeface="Calibri"/>
              </a:rPr>
              <a:t>Netlib MPS (Fixed/Free), Refinery JSON, Portfolio QP.</a:t>
            </a:r>
          </a:p>
          <a:p>
            <a:pPr>
              <a:spcAft>
                <a:spcPts val="800"/>
              </a:spcAft>
            </a:pPr>
            <a:r>
              <a:rPr b="1" sz="1000">
                <a:solidFill>
                  <a:srgbClr val="F8FAFC"/>
                </a:solidFill>
                <a:latin typeface="Calibri"/>
              </a:rPr>
              <a:t>Zero-Copy: </a:t>
            </a:r>
            <a:r>
              <a:rPr sz="1000">
                <a:solidFill>
                  <a:srgbClr val="94A3B8"/>
                </a:solidFill>
                <a:latin typeface="Calibri"/>
              </a:rPr>
              <a:t>Direct conversion into SciPy Compressed Sparse Row.</a:t>
            </a:r>
          </a:p>
          <a:p>
            <a:pPr>
              <a:spcAft>
                <a:spcPts val="800"/>
              </a:spcAft>
            </a:pPr>
            <a:r>
              <a:rPr b="1" sz="1000">
                <a:solidFill>
                  <a:srgbClr val="F8FAFC"/>
                </a:solidFill>
                <a:latin typeface="Calibri"/>
              </a:rPr>
              <a:t>Validation: </a:t>
            </a:r>
            <a:r>
              <a:rPr sz="1000">
                <a:solidFill>
                  <a:srgbClr val="94A3B8"/>
                </a:solidFill>
                <a:latin typeface="Calibri"/>
              </a:rPr>
              <a:t>Automated syntax &amp; feasibility check.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907792" y="1371600"/>
            <a:ext cx="2011680" cy="4663440"/>
          </a:xfrm>
          <a:prstGeom prst="roundRect">
            <a:avLst/>
          </a:prstGeom>
          <a:solidFill>
            <a:srgbClr val="121A2F"/>
          </a:solidFill>
          <a:ln w="15240">
            <a:solidFill>
              <a:srgbClr val="00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044952" y="1508760"/>
            <a:ext cx="173736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100" b="1">
                <a:solidFill>
                  <a:srgbClr val="00E5FF"/>
                </a:solidFill>
                <a:latin typeface="Trebuchet MS"/>
              </a:defRPr>
            </a:pPr>
            <a:r>
              <a:t>STAGE 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044952" y="1783080"/>
            <a:ext cx="173736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200" b="1">
                <a:solidFill>
                  <a:srgbClr val="F8FAFC"/>
                </a:solidFill>
                <a:latin typeface="Calibri"/>
              </a:defRPr>
            </a:pPr>
            <a:r>
              <a:t>Ruiz Equilibration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044952" y="2514600"/>
            <a:ext cx="1737360" cy="3383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/>
          <a:p>
            <a:pPr>
              <a:spcAft>
                <a:spcPts val="800"/>
              </a:spcAft>
            </a:pPr>
            <a:r>
              <a:rPr b="1" sz="1000">
                <a:solidFill>
                  <a:srgbClr val="F8FAFC"/>
                </a:solidFill>
                <a:latin typeface="Calibri"/>
              </a:rPr>
              <a:t>Scaling: </a:t>
            </a:r>
            <a:r>
              <a:rPr sz="1000">
                <a:solidFill>
                  <a:srgbClr val="94A3B8"/>
                </a:solidFill>
                <a:latin typeface="Calibri"/>
              </a:rPr>
              <a:t>Computes diagonal matrices D, E balancing row/col norms.</a:t>
            </a:r>
          </a:p>
          <a:p>
            <a:pPr>
              <a:spcAft>
                <a:spcPts val="800"/>
              </a:spcAft>
            </a:pPr>
            <a:r>
              <a:rPr b="1" sz="1000">
                <a:solidFill>
                  <a:srgbClr val="F8FAFC"/>
                </a:solidFill>
                <a:latin typeface="Calibri"/>
              </a:rPr>
              <a:t>Conditioning: </a:t>
            </a:r>
            <a:r>
              <a:rPr sz="1000">
                <a:solidFill>
                  <a:srgbClr val="94A3B8"/>
                </a:solidFill>
                <a:latin typeface="Calibri"/>
              </a:rPr>
              <a:t>Reduces condition number κ(A) from 10⁷ to 10².</a:t>
            </a:r>
          </a:p>
          <a:p>
            <a:pPr>
              <a:spcAft>
                <a:spcPts val="800"/>
              </a:spcAft>
            </a:pPr>
            <a:r>
              <a:rPr b="1" sz="1000">
                <a:solidFill>
                  <a:srgbClr val="F8FAFC"/>
                </a:solidFill>
                <a:latin typeface="Calibri"/>
              </a:rPr>
              <a:t>Acceleration: </a:t>
            </a:r>
            <a:r>
              <a:rPr sz="1000">
                <a:solidFill>
                  <a:srgbClr val="94A3B8"/>
                </a:solidFill>
                <a:latin typeface="Calibri"/>
              </a:rPr>
              <a:t>10x–50x faster convergence in first-order methods.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084064" y="1371600"/>
            <a:ext cx="2011680" cy="4663440"/>
          </a:xfrm>
          <a:prstGeom prst="roundRect">
            <a:avLst/>
          </a:prstGeom>
          <a:solidFill>
            <a:srgbClr val="121A2F"/>
          </a:solidFill>
          <a:ln w="1524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221224" y="1508760"/>
            <a:ext cx="173736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100" b="1">
                <a:solidFill>
                  <a:srgbClr val="10B981"/>
                </a:solidFill>
                <a:latin typeface="Trebuchet MS"/>
              </a:defRPr>
            </a:pPr>
            <a:r>
              <a:t>STAGE 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221224" y="1783080"/>
            <a:ext cx="173736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200" b="1">
                <a:solidFill>
                  <a:srgbClr val="F8FAFC"/>
                </a:solidFill>
                <a:latin typeface="Calibri"/>
              </a:defRPr>
            </a:pPr>
            <a:r>
              <a:t>CUDA SpMV Engine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221224" y="2514600"/>
            <a:ext cx="1737360" cy="3383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/>
          <a:p>
            <a:pPr>
              <a:spcAft>
                <a:spcPts val="800"/>
              </a:spcAft>
            </a:pPr>
            <a:r>
              <a:rPr b="1" sz="1000">
                <a:solidFill>
                  <a:srgbClr val="F8FAFC"/>
                </a:solidFill>
                <a:latin typeface="Calibri"/>
              </a:rPr>
              <a:t>Hardware: </a:t>
            </a:r>
            <a:r>
              <a:rPr sz="1000">
                <a:solidFill>
                  <a:srgbClr val="94A3B8"/>
                </a:solidFill>
                <a:latin typeface="Calibri"/>
              </a:rPr>
              <a:t>4,608 Ada Lovelace cores; 504 GB/s VRAM bus.</a:t>
            </a:r>
          </a:p>
          <a:p>
            <a:pPr>
              <a:spcAft>
                <a:spcPts val="800"/>
              </a:spcAft>
            </a:pPr>
            <a:r>
              <a:rPr b="1" sz="1000">
                <a:solidFill>
                  <a:srgbClr val="F8FAFC"/>
                </a:solidFill>
                <a:latin typeface="Calibri"/>
              </a:rPr>
              <a:t>Zero Host Sync: </a:t>
            </a:r>
            <a:r>
              <a:rPr sz="1000">
                <a:solidFill>
                  <a:srgbClr val="94A3B8"/>
                </a:solidFill>
                <a:latin typeface="Calibri"/>
              </a:rPr>
              <a:t>Sparse A and Aᵀ reside 100% in GPU memory.</a:t>
            </a:r>
          </a:p>
          <a:p>
            <a:pPr>
              <a:spcAft>
                <a:spcPts val="800"/>
              </a:spcAft>
            </a:pPr>
            <a:r>
              <a:rPr b="1" sz="1000">
                <a:solidFill>
                  <a:srgbClr val="F8FAFC"/>
                </a:solidFill>
                <a:latin typeface="Calibri"/>
              </a:rPr>
              <a:t>Async Kernels: </a:t>
            </a:r>
            <a:r>
              <a:rPr sz="1000">
                <a:solidFill>
                  <a:srgbClr val="94A3B8"/>
                </a:solidFill>
                <a:latin typeface="Calibri"/>
              </a:rPr>
              <a:t>Overlapped streaming for continuous throughput.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260336" y="1371600"/>
            <a:ext cx="2011680" cy="4663440"/>
          </a:xfrm>
          <a:prstGeom prst="roundRect">
            <a:avLst/>
          </a:prstGeom>
          <a:solidFill>
            <a:srgbClr val="121A2F"/>
          </a:solidFill>
          <a:ln w="1524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397496" y="1508760"/>
            <a:ext cx="173736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100" b="1">
                <a:solidFill>
                  <a:srgbClr val="F59E0B"/>
                </a:solidFill>
                <a:latin typeface="Trebuchet MS"/>
              </a:defRPr>
            </a:pPr>
            <a:r>
              <a:t>STAGE 04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97496" y="1783080"/>
            <a:ext cx="173736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200" b="1">
                <a:solidFill>
                  <a:srgbClr val="F8FAFC"/>
                </a:solidFill>
                <a:latin typeface="Calibri"/>
              </a:defRPr>
            </a:pPr>
            <a:r>
              <a:t>Tri-Class Solvers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97496" y="2514600"/>
            <a:ext cx="1737360" cy="3383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/>
          <a:p>
            <a:pPr>
              <a:spcAft>
                <a:spcPts val="800"/>
              </a:spcAft>
            </a:pPr>
            <a:r>
              <a:rPr b="1" sz="1000">
                <a:solidFill>
                  <a:srgbClr val="F8FAFC"/>
                </a:solidFill>
                <a:latin typeface="Calibri"/>
              </a:rPr>
              <a:t>LP Engine: </a:t>
            </a:r>
            <a:r>
              <a:rPr sz="1000">
                <a:solidFill>
                  <a:srgbClr val="94A3B8"/>
                </a:solidFill>
                <a:latin typeface="Calibri"/>
              </a:rPr>
              <a:t>Chambolle-Pock PDHG with adaptive step sizing.</a:t>
            </a:r>
          </a:p>
          <a:p>
            <a:pPr>
              <a:spcAft>
                <a:spcPts val="800"/>
              </a:spcAft>
            </a:pPr>
            <a:r>
              <a:rPr b="1" sz="1000">
                <a:solidFill>
                  <a:srgbClr val="F8FAFC"/>
                </a:solidFill>
                <a:latin typeface="Calibri"/>
              </a:rPr>
              <a:t>QP Engine: </a:t>
            </a:r>
            <a:r>
              <a:rPr sz="1000">
                <a:solidFill>
                  <a:srgbClr val="94A3B8"/>
                </a:solidFill>
                <a:latin typeface="Calibri"/>
              </a:rPr>
              <a:t>Proximal PDHG for quadratic variance minimization.</a:t>
            </a:r>
          </a:p>
          <a:p>
            <a:pPr>
              <a:spcAft>
                <a:spcPts val="800"/>
              </a:spcAft>
            </a:pPr>
            <a:r>
              <a:rPr b="1" sz="1000">
                <a:solidFill>
                  <a:srgbClr val="F8FAFC"/>
                </a:solidFill>
                <a:latin typeface="Calibri"/>
              </a:rPr>
              <a:t>MILP Engine: </a:t>
            </a:r>
            <a:r>
              <a:rPr sz="1000">
                <a:solidFill>
                  <a:srgbClr val="94A3B8"/>
                </a:solidFill>
                <a:latin typeface="Calibri"/>
              </a:rPr>
              <a:t>GPU Branch-and-Bound with warm-start relaxations.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436608" y="1371600"/>
            <a:ext cx="2011680" cy="4663440"/>
          </a:xfrm>
          <a:prstGeom prst="roundRect">
            <a:avLst/>
          </a:prstGeom>
          <a:solidFill>
            <a:srgbClr val="121A2F"/>
          </a:solidFill>
          <a:ln w="1524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573768" y="1508760"/>
            <a:ext cx="173736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100" b="1">
                <a:solidFill>
                  <a:srgbClr val="38BDF8"/>
                </a:solidFill>
                <a:latin typeface="Trebuchet MS"/>
              </a:defRPr>
            </a:pPr>
            <a:r>
              <a:t>STAGE 05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573768" y="1783080"/>
            <a:ext cx="173736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200" b="1">
                <a:solidFill>
                  <a:srgbClr val="F8FAFC"/>
                </a:solidFill>
                <a:latin typeface="Calibri"/>
              </a:defRPr>
            </a:pPr>
            <a:r>
              <a:t>KKT &amp; Economics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573768" y="2514600"/>
            <a:ext cx="1737360" cy="3383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/>
          <a:p>
            <a:pPr>
              <a:spcAft>
                <a:spcPts val="800"/>
              </a:spcAft>
            </a:pPr>
            <a:r>
              <a:rPr b="1" sz="1000">
                <a:solidFill>
                  <a:srgbClr val="F8FAFC"/>
                </a:solidFill>
                <a:latin typeface="Calibri"/>
              </a:rPr>
              <a:t>Residuals: </a:t>
            </a:r>
            <a:r>
              <a:rPr sz="1000">
                <a:solidFill>
                  <a:srgbClr val="94A3B8"/>
                </a:solidFill>
                <a:latin typeface="Calibri"/>
              </a:rPr>
              <a:t>Tracks primal, dual residuals &amp; duality gap &lt; 10⁻⁴.</a:t>
            </a:r>
          </a:p>
          <a:p>
            <a:pPr>
              <a:spcAft>
                <a:spcPts val="800"/>
              </a:spcAft>
            </a:pPr>
            <a:r>
              <a:rPr b="1" sz="1000">
                <a:solidFill>
                  <a:srgbClr val="F8FAFC"/>
                </a:solidFill>
                <a:latin typeface="Calibri"/>
              </a:rPr>
              <a:t>Debottleneck: </a:t>
            </a:r>
            <a:r>
              <a:rPr sz="1000">
                <a:solidFill>
                  <a:srgbClr val="94A3B8"/>
                </a:solidFill>
                <a:latin typeface="Calibri"/>
              </a:rPr>
              <a:t>Computes marginal shadow prices λ_i ($/bbl, $/RON).</a:t>
            </a:r>
          </a:p>
          <a:p>
            <a:pPr>
              <a:spcAft>
                <a:spcPts val="800"/>
              </a:spcAft>
            </a:pPr>
            <a:r>
              <a:rPr b="1" sz="1000">
                <a:solidFill>
                  <a:srgbClr val="F8FAFC"/>
                </a:solidFill>
                <a:latin typeface="Calibri"/>
              </a:rPr>
              <a:t>Twin Analytics: </a:t>
            </a:r>
            <a:r>
              <a:rPr sz="1000">
                <a:solidFill>
                  <a:srgbClr val="94A3B8"/>
                </a:solidFill>
                <a:latin typeface="Calibri"/>
              </a:rPr>
              <a:t>Live SCADA flowsheet stream rate display.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F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950" b="1">
                <a:solidFill>
                  <a:srgbClr val="00E5FF"/>
                </a:solidFill>
                <a:latin typeface="Calibri"/>
              </a:defRPr>
            </a:pPr>
            <a:r>
              <a:t>SIH26119 • MINISTRY OF PETROLEUM &amp; NATURAL GAS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58368"/>
            <a:ext cx="1069848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200" b="1">
                <a:solidFill>
                  <a:srgbClr val="F8FAFC"/>
                </a:solidFill>
                <a:latin typeface="Trebuchet MS"/>
              </a:defRPr>
            </a:pPr>
            <a:r>
              <a:t>Mathematical Rigor: First-Order Chambolle-Pock PDHG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446520"/>
            <a:ext cx="1069848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900">
                <a:solidFill>
                  <a:srgbClr val="64748B"/>
                </a:solidFill>
                <a:latin typeface="Calibri"/>
              </a:defRPr>
            </a:pPr>
            <a:r>
              <a:t>PDHG-GPU: Indigenous CUDA LP/QP/MILP Optimization Solver  |  Smart India Hackathon 2026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371600"/>
            <a:ext cx="5120640" cy="2286000"/>
          </a:xfrm>
          <a:prstGeom prst="roundRect">
            <a:avLst/>
          </a:prstGeom>
          <a:solidFill>
            <a:srgbClr val="121A2F"/>
          </a:solidFill>
          <a:ln w="15240">
            <a:solidFill>
              <a:srgbClr val="2636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508760"/>
            <a:ext cx="47548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300" b="1">
                <a:solidFill>
                  <a:srgbClr val="00E5FF"/>
                </a:solidFill>
                <a:latin typeface="Trebuchet MS"/>
              </a:defRPr>
            </a:pPr>
            <a:r>
              <a:t>1. Minimax Saddle-Point Formulation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1874519"/>
            <a:ext cx="47548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600"/>
              </a:spcAft>
            </a:pPr>
            <a:r>
              <a:rPr b="1" sz="1100">
                <a:solidFill>
                  <a:srgbClr val="F8FAFC"/>
                </a:solidFill>
                <a:latin typeface="Calibri"/>
              </a:rPr>
              <a:t>Standard Form: </a:t>
            </a:r>
            <a:r>
              <a:rPr sz="1100">
                <a:solidFill>
                  <a:srgbClr val="94A3B8"/>
                </a:solidFill>
                <a:latin typeface="Calibri"/>
              </a:rPr>
              <a:t>min cᵀx  subject to  Ax ≤ b,  l ≤ x ≤ u</a:t>
            </a:r>
          </a:p>
          <a:p>
            <a:pPr>
              <a:spcAft>
                <a:spcPts val="600"/>
              </a:spcAft>
            </a:pPr>
            <a:r>
              <a:rPr b="1" sz="1050">
                <a:solidFill>
                  <a:srgbClr val="F8FAFC"/>
                </a:solidFill>
                <a:latin typeface="Calibri"/>
              </a:rPr>
              <a:t>Saddle-Point Lagrangian: </a:t>
            </a:r>
            <a:r>
              <a:rPr sz="1050">
                <a:solidFill>
                  <a:srgbClr val="94A3B8"/>
                </a:solidFill>
                <a:latin typeface="Calibri"/>
              </a:rPr>
              <a:t>L(x, y) = cᵀx + yᵀ(Ax - b),  where y ≥ 0 is dual multiplier vector.</a:t>
            </a:r>
          </a:p>
          <a:p>
            <a:pPr>
              <a:spcAft>
                <a:spcPts val="600"/>
              </a:spcAft>
            </a:pPr>
            <a:r>
              <a:rPr b="1" sz="1050">
                <a:solidFill>
                  <a:srgbClr val="F8FAFC"/>
                </a:solidFill>
                <a:latin typeface="Calibri"/>
              </a:rPr>
              <a:t>Optimality (KKT): </a:t>
            </a:r>
            <a:r>
              <a:rPr sz="1050">
                <a:solidFill>
                  <a:srgbClr val="94A3B8"/>
                </a:solidFill>
                <a:latin typeface="Calibri"/>
              </a:rPr>
              <a:t>A pair (x*, y*) is optimal iff primal feasible, dual feasible, and complementary slackness holds: y*(Ax* - b) = 0.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1371600"/>
            <a:ext cx="5212080" cy="2286000"/>
          </a:xfrm>
          <a:prstGeom prst="roundRect">
            <a:avLst/>
          </a:prstGeom>
          <a:solidFill>
            <a:srgbClr val="121A2F"/>
          </a:solidFill>
          <a:ln w="15240">
            <a:solidFill>
              <a:srgbClr val="2636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0" y="1508760"/>
            <a:ext cx="48463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300" b="1">
                <a:solidFill>
                  <a:srgbClr val="00E5FF"/>
                </a:solidFill>
                <a:latin typeface="Trebuchet MS"/>
              </a:defRPr>
            </a:pPr>
            <a:r>
              <a:t>2. Alternating Proximal Updates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1874519"/>
            <a:ext cx="48463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600"/>
              </a:spcAft>
            </a:pPr>
            <a:r>
              <a:rPr b="1" sz="1100">
                <a:solidFill>
                  <a:srgbClr val="F8FAFC"/>
                </a:solidFill>
                <a:latin typeface="Calibri"/>
              </a:rPr>
              <a:t>Dual Ascent: </a:t>
            </a:r>
            <a:r>
              <a:rPr sz="1100">
                <a:solidFill>
                  <a:srgbClr val="00E5FF"/>
                </a:solidFill>
                <a:latin typeface="Calibri"/>
              </a:rPr>
              <a:t>y^{k+1} = max(0,  y^k + σ (A x̄^k - b))</a:t>
            </a:r>
          </a:p>
          <a:p>
            <a:pPr>
              <a:spcAft>
                <a:spcPts val="600"/>
              </a:spcAft>
            </a:pPr>
            <a:r>
              <a:rPr b="1" sz="1100">
                <a:solidFill>
                  <a:srgbClr val="F8FAFC"/>
                </a:solidFill>
                <a:latin typeface="Calibri"/>
              </a:rPr>
              <a:t>Primal Descent: </a:t>
            </a:r>
            <a:r>
              <a:rPr sz="1100">
                <a:solidFill>
                  <a:srgbClr val="10B981"/>
                </a:solidFill>
                <a:latin typeface="Calibri"/>
              </a:rPr>
              <a:t>x^{k+1} = clip(x^k - τ (c + Aᵀ y^{k+1}),  l,  u)</a:t>
            </a:r>
          </a:p>
          <a:p>
            <a:pPr>
              <a:spcAft>
                <a:spcPts val="600"/>
              </a:spcAft>
            </a:pPr>
            <a:r>
              <a:rPr b="1" sz="1100">
                <a:solidFill>
                  <a:srgbClr val="F8FAFC"/>
                </a:solidFill>
                <a:latin typeface="Calibri"/>
              </a:rPr>
              <a:t>Over-Relaxation: </a:t>
            </a:r>
            <a:r>
              <a:rPr sz="1100">
                <a:solidFill>
                  <a:srgbClr val="F59E0B"/>
                </a:solidFill>
                <a:latin typeface="Calibri"/>
              </a:rPr>
              <a:t>x̄^{k+1} = x^{k+1} + θ (x^{k+1} - x^k),  typically θ = 1.0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3840480"/>
            <a:ext cx="5120640" cy="2286000"/>
          </a:xfrm>
          <a:prstGeom prst="roundRect">
            <a:avLst/>
          </a:prstGeom>
          <a:solidFill>
            <a:srgbClr val="121A2F"/>
          </a:solidFill>
          <a:ln w="15240">
            <a:solidFill>
              <a:srgbClr val="2636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4400" y="3977640"/>
            <a:ext cx="47548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300" b="1">
                <a:solidFill>
                  <a:srgbClr val="00E5FF"/>
                </a:solidFill>
                <a:latin typeface="Trebuchet MS"/>
              </a:defRPr>
            </a:pPr>
            <a:r>
              <a:t>3. Convergence Guarantee &amp; Adaptive Steps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4343400"/>
            <a:ext cx="47548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600"/>
              </a:spcAft>
            </a:pPr>
            <a:r>
              <a:rPr b="1" sz="1100">
                <a:solidFill>
                  <a:srgbClr val="F8FAFC"/>
                </a:solidFill>
                <a:latin typeface="Calibri"/>
              </a:rPr>
              <a:t>Theoretical Bound: </a:t>
            </a:r>
            <a:r>
              <a:rPr sz="1100">
                <a:solidFill>
                  <a:srgbClr val="94A3B8"/>
                </a:solidFill>
                <a:latin typeface="Calibri"/>
              </a:rPr>
              <a:t>Guaranteed to converge when τ · σ · ‖A‖₂² &lt; 1.</a:t>
            </a:r>
          </a:p>
          <a:p>
            <a:pPr>
              <a:spcAft>
                <a:spcPts val="600"/>
              </a:spcAft>
            </a:pPr>
            <a:r>
              <a:rPr b="1" sz="1050">
                <a:solidFill>
                  <a:srgbClr val="F8FAFC"/>
                </a:solidFill>
                <a:latin typeface="Calibri"/>
              </a:rPr>
              <a:t>Spectral Norm Power Iteration: </a:t>
            </a:r>
            <a:r>
              <a:rPr sz="1050">
                <a:solidFill>
                  <a:srgbClr val="94A3B8"/>
                </a:solidFill>
                <a:latin typeface="Calibri"/>
              </a:rPr>
              <a:t>Initial ‖A‖ estimate obtained via fast 20-step GPU power iteration on AᵀA.</a:t>
            </a:r>
          </a:p>
          <a:p>
            <a:pPr>
              <a:spcAft>
                <a:spcPts val="600"/>
              </a:spcAft>
            </a:pPr>
            <a:r>
              <a:rPr b="1" sz="1050">
                <a:solidFill>
                  <a:srgbClr val="F8FAFC"/>
                </a:solidFill>
                <a:latin typeface="Calibri"/>
              </a:rPr>
              <a:t>Adaptive Primal-Dual Tuning: </a:t>
            </a:r>
            <a:r>
              <a:rPr sz="1050">
                <a:solidFill>
                  <a:srgbClr val="94A3B8"/>
                </a:solidFill>
                <a:latin typeface="Calibri"/>
              </a:rPr>
              <a:t>Dynamically scales τ and σ based on the ratio of primal to dual residuals, keeping both errors balanced.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17920" y="3840480"/>
            <a:ext cx="5212080" cy="2286000"/>
          </a:xfrm>
          <a:prstGeom prst="roundRect">
            <a:avLst/>
          </a:prstGeom>
          <a:solidFill>
            <a:srgbClr val="121A2F"/>
          </a:solidFill>
          <a:ln w="15240">
            <a:solidFill>
              <a:srgbClr val="2636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0" y="3977640"/>
            <a:ext cx="48463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300" b="1">
                <a:solidFill>
                  <a:srgbClr val="00E5FF"/>
                </a:solidFill>
                <a:latin typeface="Trebuchet MS"/>
              </a:defRPr>
            </a:pPr>
            <a:r>
              <a:t>4. Why PDHG is Ideal for CUDA GPUs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0" y="4343400"/>
            <a:ext cx="48463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600"/>
              </a:spcAft>
            </a:pPr>
            <a:r>
              <a:rPr b="1" sz="1100">
                <a:solidFill>
                  <a:srgbClr val="F8FAFC"/>
                </a:solidFill>
                <a:latin typeface="Calibri"/>
              </a:rPr>
              <a:t>No Matrix Factorization: </a:t>
            </a:r>
            <a:r>
              <a:rPr sz="1100">
                <a:solidFill>
                  <a:srgbClr val="00E5FF"/>
                </a:solidFill>
                <a:latin typeface="Calibri"/>
              </a:rPr>
              <a:t>Zero Cholesky or LU decompositions. Eliminates costly serial O(N³) bottlenecks.</a:t>
            </a:r>
          </a:p>
          <a:p>
            <a:pPr>
              <a:spcAft>
                <a:spcPts val="600"/>
              </a:spcAft>
            </a:pPr>
            <a:r>
              <a:rPr b="1" sz="1100">
                <a:solidFill>
                  <a:srgbClr val="F8FAFC"/>
                </a:solidFill>
                <a:latin typeface="Calibri"/>
              </a:rPr>
              <a:t>Only SpMV Operations: </a:t>
            </a:r>
            <a:r>
              <a:rPr sz="1100">
                <a:solidFill>
                  <a:srgbClr val="10B981"/>
                </a:solidFill>
                <a:latin typeface="Calibri"/>
              </a:rPr>
              <a:t>Computation is 100% matrix-vector multiplication, the most optimized GPU primitive.</a:t>
            </a:r>
          </a:p>
          <a:p>
            <a:pPr>
              <a:spcAft>
                <a:spcPts val="600"/>
              </a:spcAft>
            </a:pPr>
            <a:r>
              <a:rPr b="1" sz="1100">
                <a:solidFill>
                  <a:srgbClr val="F8FAFC"/>
                </a:solidFill>
                <a:latin typeface="Calibri"/>
              </a:rPr>
              <a:t>O(N) Elementwise Projection: </a:t>
            </a:r>
            <a:r>
              <a:rPr sz="1100">
                <a:solidFill>
                  <a:srgbClr val="38BDF8"/>
                </a:solidFill>
                <a:latin typeface="Calibri"/>
              </a:rPr>
              <a:t>Box projection clip(v, l, u) executes in parallel across CUDA warps with zero thread divergence.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F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950" b="1">
                <a:solidFill>
                  <a:srgbClr val="00E5FF"/>
                </a:solidFill>
                <a:latin typeface="Calibri"/>
              </a:defRPr>
            </a:pPr>
            <a:r>
              <a:t>SIH26119 • MINISTRY OF PETROLEUM &amp; NATURAL GAS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58368"/>
            <a:ext cx="1069848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200" b="1">
                <a:solidFill>
                  <a:srgbClr val="F8FAFC"/>
                </a:solidFill>
                <a:latin typeface="Trebuchet MS"/>
              </a:defRPr>
            </a:pPr>
            <a:r>
              <a:t>Numerical Preconditioning: Ruiz Matrix Equilibration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446520"/>
            <a:ext cx="1069848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900">
                <a:solidFill>
                  <a:srgbClr val="64748B"/>
                </a:solidFill>
                <a:latin typeface="Calibri"/>
              </a:defRPr>
            </a:pPr>
            <a:r>
              <a:t>PDHG-GPU: Indigenous CUDA LP/QP/MILP Optimization Solver  |  Smart India Hackathon 2026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371600"/>
            <a:ext cx="5120640" cy="4754880"/>
          </a:xfrm>
          <a:prstGeom prst="roundRect">
            <a:avLst/>
          </a:prstGeom>
          <a:solidFill>
            <a:srgbClr val="121A2F"/>
          </a:solidFill>
          <a:ln w="15240">
            <a:solidFill>
              <a:srgbClr val="2636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508760"/>
            <a:ext cx="47548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300" b="1">
                <a:solidFill>
                  <a:srgbClr val="00E5FF"/>
                </a:solidFill>
                <a:latin typeface="Trebuchet MS"/>
              </a:defRPr>
            </a:pPr>
            <a:r>
              <a:t>The Condition Number Challenge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1920240"/>
            <a:ext cx="475488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600"/>
              </a:spcAft>
            </a:pPr>
            <a:r>
              <a:rPr b="1" sz="1100">
                <a:solidFill>
                  <a:srgbClr val="F8FAFC"/>
                </a:solidFill>
                <a:latin typeface="Calibri"/>
              </a:rPr>
              <a:t>The Ill-Conditioning Trap: </a:t>
            </a:r>
            <a:r>
              <a:rPr sz="1100">
                <a:solidFill>
                  <a:srgbClr val="94A3B8"/>
                </a:solidFill>
                <a:latin typeface="Calibri"/>
              </a:rPr>
              <a:t>Industrial refinery matrices combine stream flows (100,000 bpd) with trace sulfur specifications (0.00001 fraction). Matrix condition number κ(A) often exceeds 10⁷.</a:t>
            </a:r>
          </a:p>
          <a:p>
            <a:pPr>
              <a:spcAft>
                <a:spcPts val="600"/>
              </a:spcAft>
            </a:pPr>
            <a:r>
              <a:rPr b="1" sz="1100">
                <a:solidFill>
                  <a:srgbClr val="F8FAFC"/>
                </a:solidFill>
                <a:latin typeface="Calibri"/>
              </a:rPr>
              <a:t>Ruiz Equilibration Algorithm: </a:t>
            </a:r>
            <a:r>
              <a:rPr sz="1100">
                <a:solidFill>
                  <a:srgbClr val="94A3B8"/>
                </a:solidFill>
                <a:latin typeface="Calibri"/>
              </a:rPr>
              <a:t>Iteratively computes diagonal scaling matrices D = diag(d) and E = diag(e) such that every row and column of D·A·E has an infinity norm close to 1.0.</a:t>
            </a:r>
          </a:p>
          <a:p>
            <a:pPr>
              <a:spcAft>
                <a:spcPts val="600"/>
              </a:spcAft>
            </a:pPr>
            <a:r>
              <a:rPr b="1" sz="1100">
                <a:solidFill>
                  <a:srgbClr val="F8FAFC"/>
                </a:solidFill>
                <a:latin typeface="Calibri"/>
              </a:rPr>
              <a:t>Formula per Iteration: </a:t>
            </a:r>
            <a:r>
              <a:rPr sz="1100">
                <a:solidFill>
                  <a:srgbClr val="00E5FF"/>
                </a:solidFill>
                <a:latin typeface="Calibri"/>
              </a:rPr>
              <a:t>d_i = 1 / sqrt(‖A_{i,:}‖_∞),    e_j = 1 / sqrt(‖A_{:,j}‖_∞)</a:t>
            </a:r>
          </a:p>
          <a:p>
            <a:pPr>
              <a:spcAft>
                <a:spcPts val="600"/>
              </a:spcAft>
            </a:pPr>
            <a:r>
              <a:rPr b="1" sz="1100">
                <a:solidFill>
                  <a:srgbClr val="F8FAFC"/>
                </a:solidFill>
                <a:latin typeface="Calibri"/>
              </a:rPr>
              <a:t>Transformation: </a:t>
            </a:r>
            <a:r>
              <a:rPr sz="1100">
                <a:solidFill>
                  <a:srgbClr val="94A3B8"/>
                </a:solidFill>
                <a:latin typeface="Calibri"/>
              </a:rPr>
              <a:t>A' = D·A·E,   b' = D·b,   c' = E·c. Runs 10-15 fast iterations.</a:t>
            </a:r>
          </a:p>
          <a:p>
            <a:pPr>
              <a:spcAft>
                <a:spcPts val="600"/>
              </a:spcAft>
            </a:pPr>
            <a:r>
              <a:rPr b="1" sz="1100">
                <a:solidFill>
                  <a:srgbClr val="F8FAFC"/>
                </a:solidFill>
                <a:latin typeface="Calibri"/>
              </a:rPr>
              <a:t>Exact Dual Unscaling: </a:t>
            </a:r>
            <a:r>
              <a:rPr sz="1100">
                <a:solidFill>
                  <a:srgbClr val="10B981"/>
                </a:solidFill>
                <a:latin typeface="Calibri"/>
              </a:rPr>
              <a:t>x* = E · x'_sol,   y* = D · y'_sol. Duality and Karush-Kuhn-Tucker multipliers are preserved with zero precision loss.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1371600"/>
            <a:ext cx="5212080" cy="4754880"/>
          </a:xfrm>
          <a:prstGeom prst="roundRect">
            <a:avLst/>
          </a:prstGeom>
          <a:solidFill>
            <a:srgbClr val="121A2F"/>
          </a:solidFill>
          <a:ln w="15240">
            <a:solidFill>
              <a:srgbClr val="2636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0" y="1508760"/>
            <a:ext cx="48463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300" b="1">
                <a:solidFill>
                  <a:srgbClr val="00E5FF"/>
                </a:solidFill>
                <a:latin typeface="Trebuchet MS"/>
              </a:defRPr>
            </a:pPr>
            <a:r>
              <a:t>Impact on Convergence &amp; Speed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1920240"/>
            <a:ext cx="48463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600"/>
              </a:spcAft>
            </a:pPr>
            <a:r>
              <a:rPr b="1" sz="1100">
                <a:solidFill>
                  <a:srgbClr val="F8FAFC"/>
                </a:solidFill>
                <a:latin typeface="Calibri"/>
              </a:rPr>
              <a:t>Stabilized Step Sizes: </a:t>
            </a:r>
            <a:r>
              <a:rPr sz="1100">
                <a:solidFill>
                  <a:srgbClr val="94A3B8"/>
                </a:solidFill>
                <a:latin typeface="Calibri"/>
              </a:rPr>
              <a:t>Preconditioning shrinks the spectral radius ‖A‖₂, enabling larger allowable step sizes (τ, σ) without numerical divergence.</a:t>
            </a:r>
          </a:p>
          <a:p>
            <a:pPr>
              <a:spcAft>
                <a:spcPts val="600"/>
              </a:spcAft>
            </a:pPr>
            <a:r>
              <a:rPr b="1" sz="1100">
                <a:solidFill>
                  <a:srgbClr val="F8FAFC"/>
                </a:solidFill>
                <a:latin typeface="Calibri"/>
              </a:rPr>
              <a:t>Zero Floating-Point Underflow: </a:t>
            </a:r>
            <a:r>
              <a:rPr sz="1100">
                <a:solidFill>
                  <a:srgbClr val="94A3B8"/>
                </a:solidFill>
                <a:latin typeface="Calibri"/>
              </a:rPr>
              <a:t>Re-normalizes constraints spanning 10⁻⁵ to 10⁶ into a uniform numerical sphere within float64 precision.</a:t>
            </a:r>
          </a:p>
          <a:p>
            <a:pPr>
              <a:spcAft>
                <a:spcPts val="600"/>
              </a:spcAft>
            </a:pPr>
            <a:r>
              <a:rPr b="1" sz="1100">
                <a:solidFill>
                  <a:srgbClr val="F8FAFC"/>
                </a:solidFill>
                <a:latin typeface="Calibri"/>
              </a:rPr>
              <a:t>Netlib Benchmark Verification: </a:t>
            </a:r>
            <a:r>
              <a:rPr sz="1100">
                <a:solidFill>
                  <a:srgbClr val="38BDF8"/>
                </a:solidFill>
                <a:latin typeface="Calibri"/>
              </a:rPr>
              <a:t>Validated across challenging ill-conditioned standard Netlib models (AFIRO, SHARE2B, AGG).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92240" y="2011680"/>
            <a:ext cx="2194560" cy="914400"/>
          </a:xfrm>
          <a:prstGeom prst="roundRect">
            <a:avLst/>
          </a:prstGeom>
          <a:solidFill>
            <a:srgbClr val="121A2F"/>
          </a:solidFill>
          <a:ln w="12700">
            <a:solidFill>
              <a:srgbClr val="2636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83680" y="2103120"/>
            <a:ext cx="201168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defRPr sz="2000" b="1">
                <a:solidFill>
                  <a:srgbClr val="00E5FF"/>
                </a:solidFill>
                <a:latin typeface="Trebuchet MS"/>
              </a:defRPr>
            </a:pPr>
            <a:r>
              <a:t>10⁷ → 10²</a:t>
            </a:r>
          </a:p>
          <a:p>
            <a:pPr algn="ctr">
              <a:defRPr sz="950">
                <a:solidFill>
                  <a:srgbClr val="94A3B8"/>
                </a:solidFill>
                <a:latin typeface="Calibri"/>
              </a:defRPr>
            </a:pPr>
            <a:r>
              <a:t>Condition Number κ(A)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961120" y="2011680"/>
            <a:ext cx="2194560" cy="914400"/>
          </a:xfrm>
          <a:prstGeom prst="roundRect">
            <a:avLst/>
          </a:prstGeom>
          <a:solidFill>
            <a:srgbClr val="121A2F"/>
          </a:solidFill>
          <a:ln w="12700">
            <a:solidFill>
              <a:srgbClr val="2636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052560" y="2103120"/>
            <a:ext cx="201168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defRPr sz="2000" b="1">
                <a:solidFill>
                  <a:srgbClr val="10B981"/>
                </a:solidFill>
                <a:latin typeface="Trebuchet MS"/>
              </a:defRPr>
            </a:pPr>
            <a:r>
              <a:t>18.4x Faster</a:t>
            </a:r>
          </a:p>
          <a:p>
            <a:pPr algn="ctr">
              <a:defRPr sz="950">
                <a:solidFill>
                  <a:srgbClr val="94A3B8"/>
                </a:solidFill>
                <a:latin typeface="Calibri"/>
              </a:defRPr>
            </a:pPr>
            <a:r>
              <a:t>Iteration Reduction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F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950" b="1">
                <a:solidFill>
                  <a:srgbClr val="00E5FF"/>
                </a:solidFill>
                <a:latin typeface="Calibri"/>
              </a:defRPr>
            </a:pPr>
            <a:r>
              <a:t>SIH26119 • MINISTRY OF PETROLEUM &amp; NATURAL GAS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58368"/>
            <a:ext cx="1069848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200" b="1">
                <a:solidFill>
                  <a:srgbClr val="F8FAFC"/>
                </a:solidFill>
                <a:latin typeface="Trebuchet MS"/>
              </a:defRPr>
            </a:pPr>
            <a:r>
              <a:t>GPU Hardware Architecture: Overcoming the Memory Wall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446520"/>
            <a:ext cx="1069848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900">
                <a:solidFill>
                  <a:srgbClr val="64748B"/>
                </a:solidFill>
                <a:latin typeface="Calibri"/>
              </a:defRPr>
            </a:pPr>
            <a:r>
              <a:t>PDHG-GPU: Indigenous CUDA LP/QP/MILP Optimization Solver  |  Smart India Hackathon 2026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371600"/>
            <a:ext cx="5120640" cy="4754880"/>
          </a:xfrm>
          <a:prstGeom prst="roundRect">
            <a:avLst/>
          </a:prstGeom>
          <a:solidFill>
            <a:srgbClr val="121A2F"/>
          </a:solidFill>
          <a:ln w="15240">
            <a:solidFill>
              <a:srgbClr val="2636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508760"/>
            <a:ext cx="47548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300" b="1">
                <a:solidFill>
                  <a:srgbClr val="00E5FF"/>
                </a:solidFill>
                <a:latin typeface="Trebuchet MS"/>
              </a:defRPr>
            </a:pPr>
            <a:r>
              <a:t>Memory Scaling: Dense vs Sparse CSR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1920240"/>
            <a:ext cx="475488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600"/>
              </a:spcAft>
            </a:pPr>
            <a:r>
              <a:rPr b="1" sz="1100">
                <a:solidFill>
                  <a:srgbClr val="F8FAFC"/>
                </a:solidFill>
                <a:latin typeface="Calibri"/>
              </a:rPr>
              <a:t>Traditional Dense Storage: </a:t>
            </a:r>
            <a:r>
              <a:rPr sz="1100">
                <a:solidFill>
                  <a:srgbClr val="94A3B8"/>
                </a:solidFill>
                <a:latin typeface="Calibri"/>
              </a:rPr>
              <a:t>Requires storing all M × N floating point values: Memory = M × N × 8 bytes.</a:t>
            </a:r>
          </a:p>
          <a:p>
            <a:pPr>
              <a:spcAft>
                <a:spcPts val="600"/>
              </a:spcAft>
            </a:pPr>
            <a:r>
              <a:rPr b="1" sz="1100">
                <a:solidFill>
                  <a:srgbClr val="F8FAFC"/>
                </a:solidFill>
                <a:latin typeface="Calibri"/>
              </a:rPr>
              <a:t>Dense Reality on 100k × 50k: </a:t>
            </a:r>
            <a:r>
              <a:rPr sz="1100">
                <a:solidFill>
                  <a:srgbClr val="EF4444"/>
                </a:solidFill>
                <a:latin typeface="Calibri"/>
              </a:rPr>
              <a:t>5 billion elements × 8 bytes = 40.0 GB RAM! Exceeds any standard GPU and crashes legacy solvers with Out-of-Memory (OOM).</a:t>
            </a:r>
          </a:p>
          <a:p>
            <a:pPr>
              <a:spcAft>
                <a:spcPts val="600"/>
              </a:spcAft>
            </a:pPr>
            <a:r>
              <a:rPr b="1" sz="1100">
                <a:solidFill>
                  <a:srgbClr val="F8FAFC"/>
                </a:solidFill>
                <a:latin typeface="Calibri"/>
              </a:rPr>
              <a:t>Sparse CSR Storage: </a:t>
            </a:r>
            <a:r>
              <a:rPr sz="1100">
                <a:solidFill>
                  <a:srgbClr val="94A3B8"/>
                </a:solidFill>
                <a:latin typeface="Calibri"/>
              </a:rPr>
              <a:t>Only stores non-zero entries (NNZ): Memory = (2 × NNZ + M) × 8 bytes.</a:t>
            </a:r>
          </a:p>
          <a:p>
            <a:pPr>
              <a:spcAft>
                <a:spcPts val="600"/>
              </a:spcAft>
            </a:pPr>
            <a:r>
              <a:rPr b="1" sz="1100">
                <a:solidFill>
                  <a:srgbClr val="F8FAFC"/>
                </a:solidFill>
                <a:latin typeface="Calibri"/>
              </a:rPr>
              <a:t>Sparse Reality on 100k × 50k (0.1% NNZ): </a:t>
            </a:r>
            <a:r>
              <a:rPr sz="1100">
                <a:solidFill>
                  <a:srgbClr val="10B981"/>
                </a:solidFill>
                <a:latin typeface="Calibri"/>
              </a:rPr>
              <a:t>5 million non-zeros = 80 MB VRAM! A 500x reduction in memory footprint.</a:t>
            </a:r>
          </a:p>
          <a:p>
            <a:pPr>
              <a:spcAft>
                <a:spcPts val="600"/>
              </a:spcAft>
            </a:pPr>
            <a:r>
              <a:rPr b="1" sz="1100">
                <a:solidFill>
                  <a:srgbClr val="F8FAFC"/>
                </a:solidFill>
                <a:latin typeface="Calibri"/>
              </a:rPr>
              <a:t>8GB RTX 4070 Ceiling: </a:t>
            </a:r>
            <a:r>
              <a:rPr sz="1100">
                <a:solidFill>
                  <a:srgbClr val="00E5FF"/>
                </a:solidFill>
                <a:latin typeface="Calibri"/>
              </a:rPr>
              <a:t>Can host up to 364 Million Non-Zeros in GPU memory simultaneously.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1371600"/>
            <a:ext cx="5212080" cy="4754880"/>
          </a:xfrm>
          <a:prstGeom prst="roundRect">
            <a:avLst/>
          </a:prstGeom>
          <a:solidFill>
            <a:srgbClr val="121A2F"/>
          </a:solidFill>
          <a:ln w="15240">
            <a:solidFill>
              <a:srgbClr val="2636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0" y="1508760"/>
            <a:ext cx="48463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300" b="1">
                <a:solidFill>
                  <a:srgbClr val="00E5FF"/>
                </a:solidFill>
                <a:latin typeface="Trebuchet MS"/>
              </a:defRPr>
            </a:pPr>
            <a:r>
              <a:t>Zero Host-Device Sync Execution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1920240"/>
            <a:ext cx="48463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600"/>
              </a:spcAft>
            </a:pPr>
            <a:r>
              <a:rPr b="1" sz="1150">
                <a:solidFill>
                  <a:srgbClr val="F8FAFC"/>
                </a:solidFill>
                <a:latin typeface="Calibri"/>
              </a:rPr>
              <a:t>VRAM-Resident Loop: </a:t>
            </a:r>
            <a:r>
              <a:rPr sz="1150">
                <a:solidFill>
                  <a:srgbClr val="00E5FF"/>
                </a:solidFill>
                <a:latin typeface="Calibri"/>
              </a:rPr>
              <a:t>Matrix A and transpose Aᵀ are uploaded to GPU once at initialization. Zero PCIe memory copies take place during the thousands of iterations.</a:t>
            </a:r>
          </a:p>
          <a:p>
            <a:pPr>
              <a:spcAft>
                <a:spcPts val="600"/>
              </a:spcAft>
            </a:pPr>
            <a:r>
              <a:rPr b="1" sz="1150">
                <a:solidFill>
                  <a:srgbClr val="F8FAFC"/>
                </a:solidFill>
                <a:latin typeface="Calibri"/>
              </a:rPr>
              <a:t>CuPy / CUDA Stream Concurrency: </a:t>
            </a:r>
            <a:r>
              <a:rPr sz="1150">
                <a:solidFill>
                  <a:srgbClr val="94A3B8"/>
                </a:solidFill>
                <a:latin typeface="Calibri"/>
              </a:rPr>
              <a:t>SpMV operations, vector additions, and clipping kernels execute concurrently across 4,608 Ada Lovelace streaming multiprocessors.</a:t>
            </a:r>
          </a:p>
          <a:p>
            <a:pPr>
              <a:spcAft>
                <a:spcPts val="600"/>
              </a:spcAft>
            </a:pPr>
            <a:r>
              <a:rPr b="1" sz="1150">
                <a:solidFill>
                  <a:srgbClr val="F8FAFC"/>
                </a:solidFill>
                <a:latin typeface="Calibri"/>
              </a:rPr>
              <a:t>504 GB/s Memory Bandwidth: </a:t>
            </a:r>
            <a:r>
              <a:rPr sz="1150">
                <a:solidFill>
                  <a:srgbClr val="10B981"/>
                </a:solidFill>
                <a:latin typeface="Calibri"/>
              </a:rPr>
              <a:t>High-bandwidth GDDR6 memory feeds matrix non-zeros directly into GPU registers at over half a terabyte per second.</a:t>
            </a:r>
          </a:p>
          <a:p>
            <a:pPr>
              <a:spcAft>
                <a:spcPts val="600"/>
              </a:spcAft>
            </a:pPr>
            <a:r>
              <a:rPr b="1" sz="1150">
                <a:solidFill>
                  <a:srgbClr val="F8FAFC"/>
                </a:solidFill>
                <a:latin typeface="Calibri"/>
              </a:rPr>
              <a:t>Asynchronous Telemetry Polling: </a:t>
            </a:r>
            <a:r>
              <a:rPr sz="1150">
                <a:solidFill>
                  <a:srgbClr val="94A3B8"/>
                </a:solidFill>
                <a:latin typeface="Calibri"/>
              </a:rPr>
              <a:t>KKT residuals are evaluated on GPU without interrupting iterative execution streams.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F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950" b="1">
                <a:solidFill>
                  <a:srgbClr val="00E5FF"/>
                </a:solidFill>
                <a:latin typeface="Calibri"/>
              </a:defRPr>
            </a:pPr>
            <a:r>
              <a:t>SIH26119 • MINISTRY OF PETROLEUM &amp; NATURAL GAS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58368"/>
            <a:ext cx="1069848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200" b="1">
                <a:solidFill>
                  <a:srgbClr val="F8FAFC"/>
                </a:solidFill>
                <a:latin typeface="Trebuchet MS"/>
              </a:defRPr>
            </a:pPr>
            <a:r>
              <a:t>Tri-Class Mathematical Support: LP + QP + MILP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446520"/>
            <a:ext cx="1069848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900">
                <a:solidFill>
                  <a:srgbClr val="64748B"/>
                </a:solidFill>
                <a:latin typeface="Calibri"/>
              </a:defRPr>
            </a:pPr>
            <a:r>
              <a:t>PDHG-GPU: Indigenous CUDA LP/QP/MILP Optimization Solver  |  Smart India Hackathon 2026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371600"/>
            <a:ext cx="3383280" cy="4754880"/>
          </a:xfrm>
          <a:prstGeom prst="roundRect">
            <a:avLst/>
          </a:prstGeom>
          <a:solidFill>
            <a:srgbClr val="121A2F"/>
          </a:solidFill>
          <a:ln w="1524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508760"/>
            <a:ext cx="30175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300" b="1">
                <a:solidFill>
                  <a:srgbClr val="00E5FF"/>
                </a:solidFill>
                <a:latin typeface="Trebuchet MS"/>
              </a:defRPr>
            </a:pPr>
            <a:r>
              <a:t>1. Linear Program (LP)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1920240"/>
            <a:ext cx="30175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600"/>
              </a:spcAft>
            </a:pPr>
            <a:r>
              <a:rPr b="1" sz="1100">
                <a:solidFill>
                  <a:srgbClr val="F8FAFC"/>
                </a:solidFill>
                <a:latin typeface="Calibri"/>
              </a:rPr>
              <a:t>Objective: </a:t>
            </a:r>
            <a:r>
              <a:rPr sz="1100">
                <a:solidFill>
                  <a:srgbClr val="94A3B8"/>
                </a:solidFill>
                <a:latin typeface="Calibri"/>
              </a:rPr>
              <a:t>min cᵀx  s.t.  Ax ≤ b,  l ≤ x ≤ u</a:t>
            </a:r>
          </a:p>
          <a:p>
            <a:pPr>
              <a:spcAft>
                <a:spcPts val="600"/>
              </a:spcAft>
            </a:pPr>
            <a:r>
              <a:rPr b="1" sz="1050">
                <a:solidFill>
                  <a:srgbClr val="F8FAFC"/>
                </a:solidFill>
                <a:latin typeface="Calibri"/>
              </a:rPr>
              <a:t>Algorithm: </a:t>
            </a:r>
            <a:r>
              <a:rPr sz="1050">
                <a:solidFill>
                  <a:srgbClr val="94A3B8"/>
                </a:solidFill>
                <a:latin typeface="Calibri"/>
              </a:rPr>
              <a:t>First-order PDHG with Ruiz equilibration and adaptive primal-dual step sizes.</a:t>
            </a:r>
          </a:p>
          <a:p>
            <a:pPr>
              <a:spcAft>
                <a:spcPts val="600"/>
              </a:spcAft>
            </a:pPr>
            <a:r>
              <a:rPr b="1" sz="1050">
                <a:solidFill>
                  <a:srgbClr val="F8FAFC"/>
                </a:solidFill>
                <a:latin typeface="Calibri"/>
              </a:rPr>
              <a:t>Use Case: </a:t>
            </a:r>
            <a:r>
              <a:rPr sz="1050">
                <a:solidFill>
                  <a:srgbClr val="94A3B8"/>
                </a:solidFill>
                <a:latin typeface="Calibri"/>
              </a:rPr>
              <a:t>Refinery yield scheduling, product blending, crude oil allocation.</a:t>
            </a:r>
          </a:p>
          <a:p>
            <a:pPr>
              <a:spcAft>
                <a:spcPts val="600"/>
              </a:spcAft>
            </a:pPr>
            <a:r>
              <a:rPr b="1" sz="1050">
                <a:solidFill>
                  <a:srgbClr val="F8FAFC"/>
                </a:solidFill>
                <a:latin typeface="Calibri"/>
              </a:rPr>
              <a:t>Performance: </a:t>
            </a:r>
            <a:r>
              <a:rPr sz="1050">
                <a:solidFill>
                  <a:srgbClr val="10B981"/>
                </a:solidFill>
                <a:latin typeface="Calibri"/>
              </a:rPr>
              <a:t>Solved IOCL Mathura 8-Crude model in 470 iterations, delivering $2.77M/day optimal refinery margin.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89120" y="1371600"/>
            <a:ext cx="3383280" cy="4754880"/>
          </a:xfrm>
          <a:prstGeom prst="roundRect">
            <a:avLst/>
          </a:prstGeom>
          <a:solidFill>
            <a:srgbClr val="121A2F"/>
          </a:solidFill>
          <a:ln w="15240">
            <a:solidFill>
              <a:srgbClr val="00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0" y="1508760"/>
            <a:ext cx="30175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300" b="1">
                <a:solidFill>
                  <a:srgbClr val="00E5FF"/>
                </a:solidFill>
                <a:latin typeface="Trebuchet MS"/>
              </a:defRPr>
            </a:pPr>
            <a:r>
              <a:t>2. Quadratic Program (QP)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1920240"/>
            <a:ext cx="30175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600"/>
              </a:spcAft>
            </a:pPr>
            <a:r>
              <a:rPr b="1" sz="1100">
                <a:solidFill>
                  <a:srgbClr val="F8FAFC"/>
                </a:solidFill>
                <a:latin typeface="Calibri"/>
              </a:rPr>
              <a:t>Objective: </a:t>
            </a:r>
            <a:r>
              <a:rPr sz="1100">
                <a:solidFill>
                  <a:srgbClr val="94A3B8"/>
                </a:solidFill>
                <a:latin typeface="Calibri"/>
              </a:rPr>
              <a:t>min ½ xᵀQx + cᵀx  s.t.  Ax ≤ b</a:t>
            </a:r>
          </a:p>
          <a:p>
            <a:pPr>
              <a:spcAft>
                <a:spcPts val="600"/>
              </a:spcAft>
            </a:pPr>
            <a:r>
              <a:rPr b="1" sz="1050">
                <a:solidFill>
                  <a:srgbClr val="F8FAFC"/>
                </a:solidFill>
                <a:latin typeface="Calibri"/>
              </a:rPr>
              <a:t>Algorithm: </a:t>
            </a:r>
            <a:r>
              <a:rPr sz="1050">
                <a:solidFill>
                  <a:srgbClr val="94A3B8"/>
                </a:solidFill>
                <a:latin typeface="Calibri"/>
              </a:rPr>
              <a:t>Proximal PDHG: Primal update applies proximal operator (I + τ Q)⁻¹(x - τ c - τ Aᵀy).</a:t>
            </a:r>
          </a:p>
          <a:p>
            <a:pPr>
              <a:spcAft>
                <a:spcPts val="600"/>
              </a:spcAft>
            </a:pPr>
            <a:r>
              <a:rPr b="1" sz="1050">
                <a:solidFill>
                  <a:srgbClr val="F8FAFC"/>
                </a:solidFill>
                <a:latin typeface="Calibri"/>
              </a:rPr>
              <a:t>Use Case: </a:t>
            </a:r>
            <a:r>
              <a:rPr sz="1050">
                <a:solidFill>
                  <a:srgbClr val="94A3B8"/>
                </a:solidFill>
                <a:latin typeface="Calibri"/>
              </a:rPr>
              <a:t>Markowitz crude procurement risk minimization across volatile global spot markets.</a:t>
            </a:r>
          </a:p>
          <a:p>
            <a:pPr>
              <a:spcAft>
                <a:spcPts val="600"/>
              </a:spcAft>
            </a:pPr>
            <a:r>
              <a:rPr b="1" sz="1050">
                <a:solidFill>
                  <a:srgbClr val="F8FAFC"/>
                </a:solidFill>
                <a:latin typeface="Calibri"/>
              </a:rPr>
              <a:t>Performance: </a:t>
            </a:r>
            <a:r>
              <a:rPr sz="1050">
                <a:solidFill>
                  <a:srgbClr val="00E5FF"/>
                </a:solidFill>
                <a:latin typeface="Calibri"/>
              </a:rPr>
              <a:t>Minimizes crude procurement variance down to 3.166 × 10⁸ σ² under strict budget &amp; throughput quotas.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46720" y="1371600"/>
            <a:ext cx="3383280" cy="4754880"/>
          </a:xfrm>
          <a:prstGeom prst="roundRect">
            <a:avLst/>
          </a:prstGeom>
          <a:solidFill>
            <a:srgbClr val="121A2F"/>
          </a:solidFill>
          <a:ln w="1524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29600" y="1508760"/>
            <a:ext cx="30175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300" b="1">
                <a:solidFill>
                  <a:srgbClr val="00E5FF"/>
                </a:solidFill>
                <a:latin typeface="Trebuchet MS"/>
              </a:defRPr>
            </a:pPr>
            <a:r>
              <a:t>3. Mixed-Integer (MILP)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0" y="1920240"/>
            <a:ext cx="30175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600"/>
              </a:spcAft>
            </a:pPr>
            <a:r>
              <a:rPr b="1" sz="1100">
                <a:solidFill>
                  <a:srgbClr val="F8FAFC"/>
                </a:solidFill>
                <a:latin typeface="Calibri"/>
              </a:rPr>
              <a:t>Objective: </a:t>
            </a:r>
            <a:r>
              <a:rPr sz="1100">
                <a:solidFill>
                  <a:srgbClr val="94A3B8"/>
                </a:solidFill>
                <a:latin typeface="Calibri"/>
              </a:rPr>
              <a:t>min cᵀx  s.t.  Ax ≤ b,  x_j ∈ {0, 1}</a:t>
            </a:r>
          </a:p>
          <a:p>
            <a:pPr>
              <a:spcAft>
                <a:spcPts val="600"/>
              </a:spcAft>
            </a:pPr>
            <a:r>
              <a:rPr b="1" sz="1050">
                <a:solidFill>
                  <a:srgbClr val="F8FAFC"/>
                </a:solidFill>
                <a:latin typeface="Calibri"/>
              </a:rPr>
              <a:t>Algorithm: </a:t>
            </a:r>
            <a:r>
              <a:rPr sz="1050">
                <a:solidFill>
                  <a:srgbClr val="94A3B8"/>
                </a:solidFill>
                <a:latin typeface="Calibri"/>
              </a:rPr>
              <a:t>GPU-accelerated Branch-and-Bound: warm-started LP relaxations at each tree node.</a:t>
            </a:r>
          </a:p>
          <a:p>
            <a:pPr>
              <a:spcAft>
                <a:spcPts val="600"/>
              </a:spcAft>
            </a:pPr>
            <a:r>
              <a:rPr b="1" sz="1050">
                <a:solidFill>
                  <a:srgbClr val="F8FAFC"/>
                </a:solidFill>
                <a:latin typeface="Calibri"/>
              </a:rPr>
              <a:t>Use Case: </a:t>
            </a:r>
            <a:r>
              <a:rPr sz="1050">
                <a:solidFill>
                  <a:srgbClr val="94A3B8"/>
                </a:solidFill>
                <a:latin typeface="Calibri"/>
              </a:rPr>
              <a:t>Refinery generator unit commitment: discrete on/off decisions with startup penalties.</a:t>
            </a:r>
          </a:p>
          <a:p>
            <a:pPr>
              <a:spcAft>
                <a:spcPts val="600"/>
              </a:spcAft>
            </a:pPr>
            <a:r>
              <a:rPr b="1" sz="1050">
                <a:solidFill>
                  <a:srgbClr val="F8FAFC"/>
                </a:solidFill>
                <a:latin typeface="Calibri"/>
              </a:rPr>
              <a:t>Performance: </a:t>
            </a:r>
            <a:r>
              <a:rPr sz="1050">
                <a:solidFill>
                  <a:srgbClr val="F59E0B"/>
                </a:solidFill>
                <a:latin typeface="Calibri"/>
              </a:rPr>
              <a:t>Proves global optimality in 3 branch nodes, finding exact -$1,717,500 minimum operating cost.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F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950" b="1">
                <a:solidFill>
                  <a:srgbClr val="00E5FF"/>
                </a:solidFill>
                <a:latin typeface="Calibri"/>
              </a:defRPr>
            </a:pPr>
            <a:r>
              <a:t>SIH26119 • MINISTRY OF PETROLEUM &amp; NATURAL GAS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58368"/>
            <a:ext cx="1069848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200" b="1">
                <a:solidFill>
                  <a:srgbClr val="F8FAFC"/>
                </a:solidFill>
                <a:latin typeface="Trebuchet MS"/>
              </a:defRPr>
            </a:pPr>
            <a:r>
              <a:t>Industrial Domain Twin: IOCL Mathura 8-Crude Topology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446520"/>
            <a:ext cx="1069848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900">
                <a:solidFill>
                  <a:srgbClr val="64748B"/>
                </a:solidFill>
                <a:latin typeface="Calibri"/>
              </a:defRPr>
            </a:pPr>
            <a:r>
              <a:t>PDHG-GPU: Indigenous CUDA LP/QP/MILP Optimization Solver  |  Smart India Hackathon 2026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371600"/>
            <a:ext cx="4114800" cy="4754880"/>
          </a:xfrm>
          <a:prstGeom prst="roundRect">
            <a:avLst/>
          </a:prstGeom>
          <a:solidFill>
            <a:srgbClr val="121A2F"/>
          </a:solidFill>
          <a:ln w="15240">
            <a:solidFill>
              <a:srgbClr val="2636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508760"/>
            <a:ext cx="37490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300" b="1">
                <a:solidFill>
                  <a:srgbClr val="00E5FF"/>
                </a:solidFill>
                <a:latin typeface="Trebuchet MS"/>
              </a:defRPr>
            </a:pPr>
            <a:r>
              <a:t>Refinery Process Flow &amp; Specs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1920240"/>
            <a:ext cx="3749039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600"/>
              </a:spcAft>
            </a:pPr>
            <a:r>
              <a:rPr b="1" sz="1050">
                <a:solidFill>
                  <a:srgbClr val="F8FAFC"/>
                </a:solidFill>
                <a:latin typeface="Calibri"/>
              </a:rPr>
              <a:t>8 Global Crude Assay: </a:t>
            </a:r>
            <a:r>
              <a:rPr sz="1050">
                <a:solidFill>
                  <a:srgbClr val="94A3B8"/>
                </a:solidFill>
                <a:latin typeface="Calibri"/>
              </a:rPr>
              <a:t>Domestic Bombay High (38.5° API, 0.14% S) blended with 7 imported crudes (Arab Light, Arab Heavy, Urals, Maya, Bonny Light, Basrah, Murban).</a:t>
            </a:r>
          </a:p>
          <a:p>
            <a:pPr>
              <a:spcAft>
                <a:spcPts val="600"/>
              </a:spcAft>
            </a:pPr>
            <a:r>
              <a:rPr b="1" sz="1050">
                <a:solidFill>
                  <a:srgbClr val="F8FAFC"/>
                </a:solidFill>
                <a:latin typeface="Calibri"/>
              </a:rPr>
              <a:t>4-Stage Refinery Units: </a:t>
            </a:r>
            <a:r>
              <a:rPr sz="1050">
                <a:solidFill>
                  <a:srgbClr val="94A3B8"/>
                </a:solidFill>
                <a:latin typeface="Calibri"/>
              </a:rPr>
              <a:t>Atmospheric Distillation (CDU 160k bpd), Vacuum (VDU 75k bpd), FCCU (40k bpd), Hydrotreater (DHT 55k bpd), Platformer (CRU 30k bpd).</a:t>
            </a:r>
          </a:p>
          <a:p>
            <a:pPr>
              <a:spcAft>
                <a:spcPts val="600"/>
              </a:spcAft>
            </a:pPr>
            <a:r>
              <a:rPr b="1" sz="1050">
                <a:solidFill>
                  <a:srgbClr val="F8FAFC"/>
                </a:solidFill>
                <a:latin typeface="Calibri"/>
              </a:rPr>
              <a:t>BS-VI Clean Fuel Standard: </a:t>
            </a:r>
            <a:r>
              <a:rPr sz="1050">
                <a:solidFill>
                  <a:srgbClr val="F59E0B"/>
                </a:solidFill>
                <a:latin typeface="Calibri"/>
              </a:rPr>
              <a:t>Rigorous product pool quality constraints:</a:t>
            </a:r>
          </a:p>
          <a:p>
            <a:pPr>
              <a:spcAft>
                <a:spcPts val="600"/>
              </a:spcAft>
            </a:pPr>
            <a:r>
              <a:rPr b="1" sz="1000">
                <a:solidFill>
                  <a:srgbClr val="F8FAFC"/>
                </a:solidFill>
                <a:latin typeface="Calibri"/>
              </a:rPr>
              <a:t>Petrol Octane: </a:t>
            </a:r>
            <a:r>
              <a:rPr sz="1000">
                <a:solidFill>
                  <a:srgbClr val="00E5FF"/>
                </a:solidFill>
                <a:latin typeface="Calibri"/>
              </a:rPr>
              <a:t>RON ≥ 91.0 (Binding Spec: +$0.48/bbl shadow price)</a:t>
            </a:r>
          </a:p>
          <a:p>
            <a:pPr>
              <a:spcAft>
                <a:spcPts val="600"/>
              </a:spcAft>
            </a:pPr>
            <a:r>
              <a:rPr b="1" sz="1000">
                <a:solidFill>
                  <a:srgbClr val="F8FAFC"/>
                </a:solidFill>
                <a:latin typeface="Calibri"/>
              </a:rPr>
              <a:t>Diesel Sulfur: </a:t>
            </a:r>
            <a:r>
              <a:rPr sz="1000">
                <a:solidFill>
                  <a:srgbClr val="00E5FF"/>
                </a:solidFill>
                <a:latin typeface="Calibri"/>
              </a:rPr>
              <a:t>S ≤ 10.0 ppm (Binding Spec: +$0.02/bbl shadow price)</a:t>
            </a:r>
          </a:p>
          <a:p>
            <a:pPr>
              <a:spcAft>
                <a:spcPts val="600"/>
              </a:spcAft>
            </a:pPr>
            <a:r>
              <a:rPr b="1" sz="1050">
                <a:solidFill>
                  <a:srgbClr val="F8FAFC"/>
                </a:solidFill>
                <a:latin typeface="Calibri"/>
              </a:rPr>
              <a:t>Total Throughput: </a:t>
            </a:r>
            <a:r>
              <a:rPr sz="1050">
                <a:solidFill>
                  <a:srgbClr val="10B981"/>
                </a:solidFill>
                <a:latin typeface="Calibri"/>
              </a:rPr>
              <a:t>160,000 bpd crude processed yielding $2,773,205 / day net operating profit.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120640" y="1371600"/>
            <a:ext cx="6309360" cy="4754880"/>
          </a:xfrm>
          <a:prstGeom prst="roundRect">
            <a:avLst/>
          </a:prstGeom>
          <a:solidFill>
            <a:srgbClr val="121A2F"/>
          </a:solidFill>
          <a:ln w="15240">
            <a:solidFill>
              <a:srgbClr val="2636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303520" y="1508760"/>
            <a:ext cx="5943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300" b="1">
                <a:solidFill>
                  <a:srgbClr val="00E5FF"/>
                </a:solidFill>
                <a:latin typeface="Trebuchet MS"/>
              </a:defRPr>
            </a:pPr>
            <a:r>
              <a:t>Live Solved P&amp;ID SCADA Process Flowsheet</a:t>
            </a:r>
          </a:p>
        </p:txBody>
      </p:sp>
      <p:pic>
        <p:nvPicPr>
          <p:cNvPr id="12" name="Picture 11" descr="flowsheet_check_178854266020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57800" y="1920240"/>
            <a:ext cx="6035040" cy="402336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F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950" b="1">
                <a:solidFill>
                  <a:srgbClr val="00E5FF"/>
                </a:solidFill>
                <a:latin typeface="Calibri"/>
              </a:defRPr>
            </a:pPr>
            <a:r>
              <a:t>SIH26119 • MINISTRY OF PETROLEUM &amp; NATURAL GAS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58368"/>
            <a:ext cx="1069848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200" b="1">
                <a:solidFill>
                  <a:srgbClr val="F8FAFC"/>
                </a:solidFill>
                <a:latin typeface="Trebuchet MS"/>
              </a:defRPr>
            </a:pPr>
            <a:r>
              <a:t>Economic Intelligence: Dual Multipliers &amp; Debottlenecking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446520"/>
            <a:ext cx="1069848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900">
                <a:solidFill>
                  <a:srgbClr val="64748B"/>
                </a:solidFill>
                <a:latin typeface="Calibri"/>
              </a:defRPr>
            </a:pPr>
            <a:r>
              <a:t>PDHG-GPU: Indigenous CUDA LP/QP/MILP Optimization Solver  |  Smart India Hackathon 2026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371600"/>
            <a:ext cx="4389120" cy="4754880"/>
          </a:xfrm>
          <a:prstGeom prst="roundRect">
            <a:avLst/>
          </a:prstGeom>
          <a:solidFill>
            <a:srgbClr val="121A2F"/>
          </a:solidFill>
          <a:ln w="15240">
            <a:solidFill>
              <a:srgbClr val="2636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508760"/>
            <a:ext cx="40233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300" b="1">
                <a:solidFill>
                  <a:srgbClr val="00E5FF"/>
                </a:solidFill>
                <a:latin typeface="Trebuchet MS"/>
              </a:defRPr>
            </a:pPr>
            <a:r>
              <a:t>Marginal Valuation Insights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1920240"/>
            <a:ext cx="402336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600"/>
              </a:spcAft>
            </a:pPr>
            <a:r>
              <a:rPr b="1" sz="1100">
                <a:solidFill>
                  <a:srgbClr val="F8FAFC"/>
                </a:solidFill>
                <a:latin typeface="Calibri"/>
              </a:rPr>
              <a:t>Mathematical Foundation: </a:t>
            </a:r>
            <a:r>
              <a:rPr sz="1100">
                <a:solidFill>
                  <a:srgbClr val="94A3B8"/>
                </a:solidFill>
                <a:latin typeface="Calibri"/>
              </a:rPr>
              <a:t>Lagrangian multipliers λ_i = ∂(Profit) / ∂(b_i) provide the exact marginal dollar value of expanding constraint b_i by one unit.</a:t>
            </a:r>
          </a:p>
          <a:p>
            <a:pPr>
              <a:spcAft>
                <a:spcPts val="600"/>
              </a:spcAft>
            </a:pPr>
            <a:r>
              <a:rPr b="1" sz="1100">
                <a:solidFill>
                  <a:srgbClr val="F8FAFC"/>
                </a:solidFill>
                <a:latin typeface="Calibri"/>
              </a:rPr>
              <a:t>Critical Equipment Bottleneck: </a:t>
            </a:r>
            <a:r>
              <a:rPr sz="1100">
                <a:solidFill>
                  <a:srgbClr val="EF4444"/>
                </a:solidFill>
                <a:latin typeface="Calibri"/>
              </a:rPr>
              <a:t>DHT Hydrotreater runs at 99.99% capacity (54,997 / 55,000 bpd) with a massive shadow price of +$27.19/bbl!</a:t>
            </a:r>
          </a:p>
          <a:p>
            <a:pPr>
              <a:spcAft>
                <a:spcPts val="600"/>
              </a:spcAft>
            </a:pPr>
            <a:r>
              <a:rPr b="1" sz="1100">
                <a:solidFill>
                  <a:srgbClr val="F8FAFC"/>
                </a:solidFill>
                <a:latin typeface="Calibri"/>
              </a:rPr>
              <a:t>Actionable CapEx Guidance: </a:t>
            </a:r>
            <a:r>
              <a:rPr sz="1100">
                <a:solidFill>
                  <a:srgbClr val="10B981"/>
                </a:solidFill>
                <a:latin typeface="Calibri"/>
              </a:rPr>
              <a:t>Expanding DHT capacity by 5,000 bpd would generate an additional +$135,950 / day ($49.6M annually) for the refinery.</a:t>
            </a:r>
          </a:p>
          <a:p>
            <a:pPr>
              <a:spcAft>
                <a:spcPts val="600"/>
              </a:spcAft>
            </a:pPr>
            <a:r>
              <a:rPr b="1" sz="1050">
                <a:solidFill>
                  <a:srgbClr val="F8FAFC"/>
                </a:solidFill>
                <a:latin typeface="Calibri"/>
              </a:rPr>
              <a:t>Intermediate Stream Valuations: </a:t>
            </a:r>
            <a:r>
              <a:rPr sz="1050">
                <a:solidFill>
                  <a:srgbClr val="94A3B8"/>
                </a:solidFill>
                <a:latin typeface="Calibri"/>
              </a:rPr>
              <a:t>Reformate: $128.50/bbl | FCC Gasoline: $118.20/bbl | Light Naphtha: $98.10/bbl | Desulfurized Diesel: $112.40/bbl.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394960" y="1371600"/>
            <a:ext cx="6035040" cy="4754880"/>
          </a:xfrm>
          <a:prstGeom prst="roundRect">
            <a:avLst/>
          </a:prstGeom>
          <a:solidFill>
            <a:srgbClr val="121A2F"/>
          </a:solidFill>
          <a:ln w="15240">
            <a:solidFill>
              <a:srgbClr val="2636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577840" y="1508760"/>
            <a:ext cx="56692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300" b="1">
                <a:solidFill>
                  <a:srgbClr val="00E5FF"/>
                </a:solidFill>
                <a:latin typeface="Trebuchet MS"/>
              </a:defRPr>
            </a:pPr>
            <a:r>
              <a:t>Live Solved Dual Valuation &amp; Debottlenecking Table</a:t>
            </a:r>
          </a:p>
        </p:txBody>
      </p:sp>
      <p:pic>
        <p:nvPicPr>
          <p:cNvPr id="12" name="Picture 11" descr="dual_multipliers_check_178854269144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32120" y="1920240"/>
            <a:ext cx="5760720" cy="402336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F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950" b="1">
                <a:solidFill>
                  <a:srgbClr val="00E5FF"/>
                </a:solidFill>
                <a:latin typeface="Calibri"/>
              </a:defRPr>
            </a:pPr>
            <a:r>
              <a:t>SIH26119 • MINISTRY OF PETROLEUM &amp; NATURAL GAS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58368"/>
            <a:ext cx="1069848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200" b="1">
                <a:solidFill>
                  <a:srgbClr val="F8FAFC"/>
                </a:solidFill>
                <a:latin typeface="Trebuchet MS"/>
              </a:defRPr>
            </a:pPr>
            <a:r>
              <a:t>Experimental Validation: Presets &amp; Netlib Benchmarks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446520"/>
            <a:ext cx="1069848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900">
                <a:solidFill>
                  <a:srgbClr val="64748B"/>
                </a:solidFill>
                <a:latin typeface="Calibri"/>
              </a:defRPr>
            </a:pPr>
            <a:r>
              <a:t>PDHG-GPU: Indigenous CUDA LP/QP/MILP Optimization Solver  |  Smart India Hackathon 2026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371600"/>
            <a:ext cx="5212080" cy="4754880"/>
          </a:xfrm>
          <a:prstGeom prst="roundRect">
            <a:avLst/>
          </a:prstGeom>
          <a:solidFill>
            <a:srgbClr val="121A2F"/>
          </a:solidFill>
          <a:ln w="15240">
            <a:solidFill>
              <a:srgbClr val="2636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508760"/>
            <a:ext cx="48463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300" b="1">
                <a:solidFill>
                  <a:srgbClr val="00E5FF"/>
                </a:solidFill>
                <a:latin typeface="Trebuchet MS"/>
              </a:defRPr>
            </a:pPr>
            <a:r>
              <a:t>Convex QP: Spot Crude Procurement Risk</a:t>
            </a:r>
          </a:p>
        </p:txBody>
      </p:sp>
      <p:pic>
        <p:nvPicPr>
          <p:cNvPr id="9" name="Picture 8" descr="qp_solve_178854283410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8680" y="1920240"/>
            <a:ext cx="4937760" cy="292608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868680" y="4983480"/>
            <a:ext cx="49377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600"/>
              </a:spcAft>
            </a:pPr>
            <a:r>
              <a:rPr b="1" sz="1000">
                <a:solidFill>
                  <a:srgbClr val="F8FAFC"/>
                </a:solidFill>
                <a:latin typeface="Calibri"/>
              </a:rPr>
              <a:t>Solved Status: </a:t>
            </a:r>
            <a:r>
              <a:rPr sz="1000">
                <a:solidFill>
                  <a:srgbClr val="10B981"/>
                </a:solidFill>
                <a:latin typeface="Calibri"/>
              </a:rPr>
              <a:t>CONVERGED in 280 iterations (Duality Gap: 3.8 × 10⁻⁵).</a:t>
            </a:r>
          </a:p>
          <a:p>
            <a:pPr>
              <a:spcAft>
                <a:spcPts val="600"/>
              </a:spcAft>
            </a:pPr>
            <a:r>
              <a:rPr b="1" sz="1000">
                <a:solidFill>
                  <a:srgbClr val="F8FAFC"/>
                </a:solidFill>
                <a:latin typeface="Calibri"/>
              </a:rPr>
              <a:t>Economic Risk: </a:t>
            </a:r>
            <a:r>
              <a:rPr sz="1000">
                <a:solidFill>
                  <a:srgbClr val="94A3B8"/>
                </a:solidFill>
                <a:latin typeface="Calibri"/>
              </a:rPr>
              <a:t>Diversifies crude procurement across 8 grades to minimize market price volatility.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1371600"/>
            <a:ext cx="5212080" cy="4754880"/>
          </a:xfrm>
          <a:prstGeom prst="roundRect">
            <a:avLst/>
          </a:prstGeom>
          <a:solidFill>
            <a:srgbClr val="121A2F"/>
          </a:solidFill>
          <a:ln w="15240">
            <a:solidFill>
              <a:srgbClr val="2636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0" y="1508760"/>
            <a:ext cx="48463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300" b="1">
                <a:solidFill>
                  <a:srgbClr val="00E5FF"/>
                </a:solidFill>
                <a:latin typeface="Trebuchet MS"/>
              </a:defRPr>
            </a:pPr>
            <a:r>
              <a:t>MILP: Refinery Power Unit Commitment</a:t>
            </a:r>
          </a:p>
        </p:txBody>
      </p:sp>
      <p:pic>
        <p:nvPicPr>
          <p:cNvPr id="13" name="Picture 12" descr="milp_solve_178854289442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55080" y="1920240"/>
            <a:ext cx="4937760" cy="292608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6355080" y="4983480"/>
            <a:ext cx="49377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600"/>
              </a:spcAft>
            </a:pPr>
            <a:r>
              <a:rPr b="1" sz="1000">
                <a:solidFill>
                  <a:srgbClr val="F8FAFC"/>
                </a:solidFill>
                <a:latin typeface="Calibri"/>
              </a:rPr>
              <a:t>Integer Optimality: </a:t>
            </a:r>
            <a:r>
              <a:rPr sz="1000">
                <a:solidFill>
                  <a:srgbClr val="10B981"/>
                </a:solidFill>
                <a:latin typeface="Calibri"/>
              </a:rPr>
              <a:t>Solved in 3 Branch-and-Bound nodes (0.0% Integer Gap).</a:t>
            </a:r>
          </a:p>
          <a:p>
            <a:pPr>
              <a:spcAft>
                <a:spcPts val="600"/>
              </a:spcAft>
            </a:pPr>
            <a:r>
              <a:rPr b="1" sz="1000">
                <a:solidFill>
                  <a:srgbClr val="F8FAFC"/>
                </a:solidFill>
                <a:latin typeface="Calibri"/>
              </a:rPr>
              <a:t>Discrete Scheduling: </a:t>
            </a:r>
            <a:r>
              <a:rPr sz="1000">
                <a:solidFill>
                  <a:srgbClr val="94A3B8"/>
                </a:solidFill>
                <a:latin typeface="Calibri"/>
              </a:rPr>
              <a:t>Enforces binary turbine commitment {0, 1} with minimum startup and spinning reserves.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F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950" b="1">
                <a:solidFill>
                  <a:srgbClr val="00E5FF"/>
                </a:solidFill>
                <a:latin typeface="Calibri"/>
              </a:defRPr>
            </a:pPr>
            <a:r>
              <a:t>SIH26119 • MINISTRY OF PETROLEUM &amp; NATURAL GAS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58368"/>
            <a:ext cx="1069848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200" b="1">
                <a:solidFill>
                  <a:srgbClr val="F8FAFC"/>
                </a:solidFill>
                <a:latin typeface="Trebuchet MS"/>
              </a:defRPr>
            </a:pPr>
            <a:r>
              <a:t>National Impact &amp; Commercialization Roadmap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446520"/>
            <a:ext cx="1069848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900">
                <a:solidFill>
                  <a:srgbClr val="64748B"/>
                </a:solidFill>
                <a:latin typeface="Calibri"/>
              </a:defRPr>
            </a:pPr>
            <a:r>
              <a:t>PDHG-GPU: Indigenous CUDA LP/QP/MILP Optimization Solver  |  Smart India Hackathon 2026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371600"/>
            <a:ext cx="3383280" cy="3657600"/>
          </a:xfrm>
          <a:prstGeom prst="roundRect">
            <a:avLst/>
          </a:prstGeom>
          <a:solidFill>
            <a:srgbClr val="121A2F"/>
          </a:solidFill>
          <a:ln w="15240">
            <a:solidFill>
              <a:srgbClr val="00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508760"/>
            <a:ext cx="30175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300" b="1">
                <a:solidFill>
                  <a:srgbClr val="00E5FF"/>
                </a:solidFill>
                <a:latin typeface="Trebuchet MS"/>
              </a:defRPr>
            </a:pPr>
            <a:r>
              <a:t>1. Sovereign Energy Security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1920240"/>
            <a:ext cx="301752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600"/>
              </a:spcAft>
            </a:pPr>
            <a:r>
              <a:rPr b="1" sz="1050">
                <a:solidFill>
                  <a:srgbClr val="F8FAFC"/>
                </a:solidFill>
                <a:latin typeface="Calibri"/>
              </a:rPr>
              <a:t>Import Substitution: </a:t>
            </a:r>
            <a:r>
              <a:rPr sz="1050">
                <a:solidFill>
                  <a:srgbClr val="94A3B8"/>
                </a:solidFill>
                <a:latin typeface="Calibri"/>
              </a:rPr>
              <a:t>Eliminates reliance on US/European commercial optimization software for India's 23 oil refineries.</a:t>
            </a:r>
          </a:p>
          <a:p>
            <a:pPr>
              <a:spcAft>
                <a:spcPts val="600"/>
              </a:spcAft>
            </a:pPr>
            <a:r>
              <a:rPr b="1" sz="1050">
                <a:solidFill>
                  <a:srgbClr val="F8FAFC"/>
                </a:solidFill>
                <a:latin typeface="Calibri"/>
              </a:rPr>
              <a:t>Forex Savings: </a:t>
            </a:r>
            <a:r>
              <a:rPr sz="1050">
                <a:solidFill>
                  <a:srgbClr val="10B981"/>
                </a:solidFill>
                <a:latin typeface="Calibri"/>
              </a:rPr>
              <a:t>Estimated ₹250+ Crore ($30M+ USD) annual foreign exchange savings across Indian PSUs (IOCL, HPCL, BPCL, ONGC).</a:t>
            </a:r>
          </a:p>
          <a:p>
            <a:pPr>
              <a:spcAft>
                <a:spcPts val="600"/>
              </a:spcAft>
            </a:pPr>
            <a:r>
              <a:rPr b="1" sz="1050">
                <a:solidFill>
                  <a:srgbClr val="F8FAFC"/>
                </a:solidFill>
                <a:latin typeface="Calibri"/>
              </a:rPr>
              <a:t>Zero Backdoors: </a:t>
            </a:r>
            <a:r>
              <a:rPr sz="1050">
                <a:solidFill>
                  <a:srgbClr val="94A3B8"/>
                </a:solidFill>
                <a:latin typeface="Calibri"/>
              </a:rPr>
              <a:t>Fully auditable mathematical codebase suitable for deployment on Indian defense and sovereign cloud systems.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89120" y="1371600"/>
            <a:ext cx="3383280" cy="3657600"/>
          </a:xfrm>
          <a:prstGeom prst="roundRect">
            <a:avLst/>
          </a:prstGeom>
          <a:solidFill>
            <a:srgbClr val="121A2F"/>
          </a:solidFill>
          <a:ln w="1524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0" y="1508760"/>
            <a:ext cx="30175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300" b="1">
                <a:solidFill>
                  <a:srgbClr val="00E5FF"/>
                </a:solidFill>
                <a:latin typeface="Trebuchet MS"/>
              </a:defRPr>
            </a:pPr>
            <a:r>
              <a:t>2. Closed-Loop SCADA Integration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1920240"/>
            <a:ext cx="301752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600"/>
              </a:spcAft>
            </a:pPr>
            <a:r>
              <a:rPr b="1" sz="1050">
                <a:solidFill>
                  <a:srgbClr val="F8FAFC"/>
                </a:solidFill>
                <a:latin typeface="Calibri"/>
              </a:rPr>
              <a:t>Real-Time OPC-UA Link: </a:t>
            </a:r>
            <a:r>
              <a:rPr sz="1050">
                <a:solidFill>
                  <a:srgbClr val="94A3B8"/>
                </a:solidFill>
                <a:latin typeface="Calibri"/>
              </a:rPr>
              <a:t>Direct integration with refinery distributed control systems (Honeywell Experion, Emerson DeltaV, Yokogawa CENTUM).</a:t>
            </a:r>
          </a:p>
          <a:p>
            <a:pPr>
              <a:spcAft>
                <a:spcPts val="600"/>
              </a:spcAft>
            </a:pPr>
            <a:r>
              <a:rPr b="1" sz="1050">
                <a:solidFill>
                  <a:srgbClr val="F8FAFC"/>
                </a:solidFill>
                <a:latin typeface="Calibri"/>
              </a:rPr>
              <a:t>Sub-Second Dispatch: </a:t>
            </a:r>
            <a:r>
              <a:rPr sz="1050">
                <a:solidFill>
                  <a:srgbClr val="00E5FF"/>
                </a:solidFill>
                <a:latin typeface="Calibri"/>
              </a:rPr>
              <a:t>GPU solve speeds enable real-time dynamic re-dispatch when crude quality or spot electricity prices fluctuate.</a:t>
            </a:r>
          </a:p>
          <a:p>
            <a:pPr>
              <a:spcAft>
                <a:spcPts val="600"/>
              </a:spcAft>
            </a:pPr>
            <a:r>
              <a:rPr b="1" sz="1050">
                <a:solidFill>
                  <a:srgbClr val="F8FAFC"/>
                </a:solidFill>
                <a:latin typeface="Calibri"/>
              </a:rPr>
              <a:t>AI Surrogate Acceleration: </a:t>
            </a:r>
            <a:r>
              <a:rPr sz="1050">
                <a:solidFill>
                  <a:srgbClr val="94A3B8"/>
                </a:solidFill>
                <a:latin typeface="Calibri"/>
              </a:rPr>
              <a:t>Neural network warm-starts can reduce PDHG iterations by an additional 5x.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46720" y="1371600"/>
            <a:ext cx="3383280" cy="3657600"/>
          </a:xfrm>
          <a:prstGeom prst="roundRect">
            <a:avLst/>
          </a:prstGeom>
          <a:solidFill>
            <a:srgbClr val="121A2F"/>
          </a:solidFill>
          <a:ln w="1524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29600" y="1508760"/>
            <a:ext cx="30175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300" b="1">
                <a:solidFill>
                  <a:srgbClr val="00E5FF"/>
                </a:solidFill>
                <a:latin typeface="Trebuchet MS"/>
              </a:defRPr>
            </a:pPr>
            <a:r>
              <a:t>3. Multi-GPU Cluster Scaling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0" y="1920240"/>
            <a:ext cx="301752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600"/>
              </a:spcAft>
            </a:pPr>
            <a:r>
              <a:rPr b="1" sz="1050">
                <a:solidFill>
                  <a:srgbClr val="F8FAFC"/>
                </a:solidFill>
                <a:latin typeface="Calibri"/>
              </a:rPr>
              <a:t>Multi-GPU Distributed SpMV: </a:t>
            </a:r>
            <a:r>
              <a:rPr sz="1050">
                <a:solidFill>
                  <a:srgbClr val="94A3B8"/>
                </a:solidFill>
                <a:latin typeface="Calibri"/>
              </a:rPr>
              <a:t>Partitioning massive matrices across NVIDIA A100/H100 clusters via NCCL ring all-reduce.</a:t>
            </a:r>
          </a:p>
          <a:p>
            <a:pPr>
              <a:spcAft>
                <a:spcPts val="600"/>
              </a:spcAft>
            </a:pPr>
            <a:r>
              <a:rPr b="1" sz="1050">
                <a:solidFill>
                  <a:srgbClr val="F8FAFC"/>
                </a:solidFill>
                <a:latin typeface="Calibri"/>
              </a:rPr>
              <a:t>Billion-Variable Problems: </a:t>
            </a:r>
            <a:r>
              <a:rPr sz="1050">
                <a:solidFill>
                  <a:srgbClr val="F59E0B"/>
                </a:solidFill>
                <a:latin typeface="Calibri"/>
              </a:rPr>
              <a:t>Scales to nationwide power grid dispatch and cross-refinery pipeline logistics networks.</a:t>
            </a:r>
          </a:p>
          <a:p>
            <a:pPr>
              <a:spcAft>
                <a:spcPts val="600"/>
              </a:spcAft>
            </a:pPr>
            <a:r>
              <a:rPr b="1" sz="1050">
                <a:solidFill>
                  <a:srgbClr val="F8FAFC"/>
                </a:solidFill>
                <a:latin typeface="Calibri"/>
              </a:rPr>
              <a:t>Open Python / REST API: </a:t>
            </a:r>
            <a:r>
              <a:rPr sz="1050">
                <a:solidFill>
                  <a:srgbClr val="94A3B8"/>
                </a:solidFill>
                <a:latin typeface="Calibri"/>
              </a:rPr>
              <a:t>Turnkey drop-in replacement for existing scipy.optimize and PuLP workflows.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" y="5257800"/>
            <a:ext cx="10698480" cy="1051560"/>
          </a:xfrm>
          <a:prstGeom prst="roundRect">
            <a:avLst/>
          </a:prstGeom>
          <a:solidFill>
            <a:srgbClr val="10203C"/>
          </a:solidFill>
          <a:ln w="19050">
            <a:solidFill>
              <a:srgbClr val="00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00E5FF"/>
                </a:solidFill>
                <a:latin typeface="Trebuchet MS"/>
              </a:defRPr>
            </a:pPr>
            <a:r>
              <a:t>🏆 WHY PDHG-GPU IS THE WINNING SOLUTION FOR SIH26119:</a:t>
            </a:r>
          </a:p>
          <a:p>
            <a:pPr>
              <a:spcBef>
                <a:spcPts val="400"/>
              </a:spcBef>
              <a:defRPr sz="1050">
                <a:solidFill>
                  <a:srgbClr val="F8FAFC"/>
                </a:solidFill>
                <a:latin typeface="Calibri"/>
              </a:defRPr>
            </a:pPr>
            <a:r>
              <a:t>100% indigenous mathematical foundation (0 foreign solver dependencies)  •  Massive CUDA GPU parallelization (4,608 cores, 364M NNZ)  •  Tri-class mathematical completeness (LP + QP + MILP)  •  Live Indian refinery digital twin (IOCL Mathura, BS-VI specs, and debottlenecking economics).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